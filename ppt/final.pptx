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73" r:id="rId4"/>
    <p:sldId id="258" r:id="rId5"/>
    <p:sldId id="267" r:id="rId6"/>
    <p:sldId id="259" r:id="rId7"/>
    <p:sldId id="260" r:id="rId8"/>
    <p:sldId id="261" r:id="rId9"/>
    <p:sldId id="272" r:id="rId10"/>
    <p:sldId id="271" r:id="rId11"/>
    <p:sldId id="262" r:id="rId12"/>
    <p:sldId id="263" r:id="rId13"/>
    <p:sldId id="264" r:id="rId14"/>
    <p:sldId id="265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97" autoAdjust="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96" y="38"/>
      </p:cViewPr>
      <p:guideLst>
        <p:guide orient="horz" pos="213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ecnu_word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46304"/>
            <a:ext cx="3154680" cy="788670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3246120" y="466344"/>
            <a:ext cx="8503920" cy="0"/>
          </a:xfrm>
          <a:prstGeom prst="line">
            <a:avLst/>
          </a:prstGeom>
          <a:ln w="1524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3246120" y="612648"/>
            <a:ext cx="8503920" cy="0"/>
          </a:xfrm>
          <a:prstGeom prst="line">
            <a:avLst/>
          </a:prstGeom>
          <a:ln w="1524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56032" y="1078992"/>
            <a:ext cx="11137392" cy="3977639"/>
          </a:xfrm>
          <a:prstGeom prst="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9006840" y="4370832"/>
            <a:ext cx="329184" cy="1005840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arallelogram 6"/>
          <p:cNvSpPr/>
          <p:nvPr/>
        </p:nvSpPr>
        <p:spPr>
          <a:xfrm>
            <a:off x="9262872" y="4370832"/>
            <a:ext cx="329184" cy="1005840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Parallelogram 7"/>
          <p:cNvSpPr/>
          <p:nvPr/>
        </p:nvSpPr>
        <p:spPr>
          <a:xfrm>
            <a:off x="9518904" y="4370832"/>
            <a:ext cx="329184" cy="1005840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Parallelogram 8"/>
          <p:cNvSpPr/>
          <p:nvPr/>
        </p:nvSpPr>
        <p:spPr>
          <a:xfrm>
            <a:off x="9774936" y="4370832"/>
            <a:ext cx="329184" cy="1005840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Parallelogram 9"/>
          <p:cNvSpPr/>
          <p:nvPr/>
        </p:nvSpPr>
        <p:spPr>
          <a:xfrm>
            <a:off x="10030967" y="4370832"/>
            <a:ext cx="329184" cy="1005840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Parallelogram 10"/>
          <p:cNvSpPr/>
          <p:nvPr/>
        </p:nvSpPr>
        <p:spPr>
          <a:xfrm>
            <a:off x="10287000" y="4370832"/>
            <a:ext cx="329184" cy="1005840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960120"/>
            <a:ext cx="2560320" cy="164592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" y="1536192"/>
            <a:ext cx="78638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0">
                <a:solidFill>
                  <a:srgbClr val="FFFFFF"/>
                </a:solidFill>
                <a:latin typeface="微软雅黑" panose="020B0503020204020204" charset="-122"/>
              </a:rPr>
              <a:t>基于 Mobile OpenARM 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075688"/>
            <a:ext cx="8869680" cy="7498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>
                <a:solidFill>
                  <a:srgbClr val="FFFFFF"/>
                </a:solidFill>
                <a:latin typeface="微软雅黑" panose="020B0503020204020204" charset="-122"/>
              </a:rPr>
              <a:t>家庭出门物品准备助手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971800"/>
            <a:ext cx="6583680" cy="4754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FFC200"/>
                </a:solidFill>
                <a:latin typeface="微软雅黑" panose="020B0503020204020204" charset="-122"/>
              </a:rPr>
              <a:t>系统设计与流程验证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777240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FFFFFF"/>
                </a:solidFill>
                <a:latin typeface="微软雅黑" panose="020B0503020204020204" charset="-122"/>
              </a:rPr>
              <a:t>面向家庭场景的任务决策、多模态感知与移动操作闭环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349240"/>
            <a:ext cx="100584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课程汇报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691640" y="5486400"/>
            <a:ext cx="4434840" cy="0"/>
          </a:xfrm>
          <a:prstGeom prst="line">
            <a:avLst/>
          </a:prstGeom>
          <a:ln w="1270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5715000"/>
            <a:ext cx="2500685" cy="4225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zh-CN" sz="1300" b="0" dirty="0">
                <a:solidFill>
                  <a:srgbClr val="677079"/>
                </a:solidFill>
                <a:latin typeface="微软雅黑" panose="020B0503020204020204" charset="-122"/>
              </a:rPr>
              <a:t>小组成员：卢</a:t>
            </a:r>
            <a:r>
              <a:rPr lang="zh-CN" altLang="en-US" sz="1300" b="0" dirty="0">
                <a:solidFill>
                  <a:srgbClr val="677079"/>
                </a:solidFill>
                <a:latin typeface="微软雅黑" panose="020B0503020204020204" charset="-122"/>
              </a:rPr>
              <a:t>可</a:t>
            </a:r>
            <a:r>
              <a:rPr lang="zh-CN" sz="1300" b="0" dirty="0">
                <a:solidFill>
                  <a:srgbClr val="677079"/>
                </a:solidFill>
                <a:latin typeface="微软雅黑" panose="020B0503020204020204" charset="-122"/>
              </a:rPr>
              <a:t>为，唐俊杰，陆康</a:t>
            </a:r>
          </a:p>
          <a:p>
            <a:pPr algn="l">
              <a:lnSpc>
                <a:spcPct val="110000"/>
              </a:lnSpc>
            </a:pPr>
            <a:r>
              <a:rPr lang="zh-CN" sz="1300" b="0" dirty="0">
                <a:solidFill>
                  <a:srgbClr val="677079"/>
                </a:solidFill>
                <a:latin typeface="微软雅黑" panose="020B0503020204020204" charset="-122"/>
              </a:rPr>
              <a:t>指导老师：张新宇</a:t>
            </a:r>
            <a:r>
              <a:rPr sz="1300" b="0" dirty="0">
                <a:solidFill>
                  <a:srgbClr val="677079"/>
                </a:solidFill>
                <a:latin typeface="微软雅黑" panose="020B0503020204020204" charset="-122"/>
              </a:rPr>
              <a:t>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56848" y="6245352"/>
            <a:ext cx="4114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77079"/>
                </a:solidFill>
                <a:latin typeface="微软雅黑" panose="020B0503020204020204" charset="-122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ounded Rectangle 33">
            <a:extLst>
              <a:ext uri="{FF2B5EF4-FFF2-40B4-BE49-F238E27FC236}">
                <a16:creationId xmlns:a16="http://schemas.microsoft.com/office/drawing/2014/main" id="{57B04E5A-14E2-326D-1C36-939F952549FD}"/>
              </a:ext>
            </a:extLst>
          </p:cNvPr>
          <p:cNvSpPr/>
          <p:nvPr/>
        </p:nvSpPr>
        <p:spPr>
          <a:xfrm>
            <a:off x="659674" y="1782501"/>
            <a:ext cx="9803840" cy="356673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Parallelogram 1"/>
          <p:cNvSpPr/>
          <p:nvPr/>
        </p:nvSpPr>
        <p:spPr>
          <a:xfrm>
            <a:off x="201168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283464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365760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448056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530352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arallelogram 6"/>
          <p:cNvSpPr/>
          <p:nvPr/>
        </p:nvSpPr>
        <p:spPr>
          <a:xfrm>
            <a:off x="621792" y="109728"/>
            <a:ext cx="749808" cy="210312"/>
          </a:xfrm>
          <a:prstGeom prst="parallelogram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389888" y="214884"/>
            <a:ext cx="10451592" cy="0"/>
          </a:xfrm>
          <a:prstGeom prst="line">
            <a:avLst/>
          </a:prstGeom>
          <a:ln w="1270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_ecnu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56616"/>
            <a:ext cx="431074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384048"/>
            <a:ext cx="1231106" cy="3779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2400" b="1" dirty="0">
                <a:solidFill>
                  <a:srgbClr val="2431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背景介绍</a:t>
            </a:r>
            <a:endParaRPr sz="2400" b="1" dirty="0">
              <a:solidFill>
                <a:srgbClr val="2431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0" y="420624"/>
            <a:ext cx="23317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77079"/>
                </a:solidFill>
                <a:latin typeface="微软雅黑" panose="020B0503020204020204" charset="-122"/>
              </a:rPr>
              <a:t>01  问题与目标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" y="859536"/>
            <a:ext cx="11000232" cy="0"/>
          </a:xfrm>
          <a:prstGeom prst="line">
            <a:avLst/>
          </a:prstGeom>
          <a:ln w="889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75720" y="6492240"/>
            <a:ext cx="3200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677079"/>
                </a:solidFill>
                <a:latin typeface="微软雅黑" panose="020B0503020204020204" charset="-122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492240"/>
            <a:ext cx="2331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677079"/>
                </a:solidFill>
                <a:latin typeface="微软雅黑" panose="020B0503020204020204" charset="-122"/>
              </a:rPr>
              <a:t>EAST CHINA NORMAL UNIVERSITY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50992" y="2364509"/>
            <a:ext cx="11589615" cy="21289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系统的核心目标：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让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Mobile </a:t>
            </a:r>
            <a:r>
              <a:rPr lang="en-US" altLang="zh-CN" sz="32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OpenARM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面向家庭出门场景，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完成一条从任务理解到移动操作、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再到状态反馈的完整作业流程。</a:t>
            </a:r>
            <a:endParaRPr sz="3200" b="0" dirty="0">
              <a:solidFill>
                <a:srgbClr val="67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14400" y="5349240"/>
            <a:ext cx="127000" cy="2609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endParaRPr sz="170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096EF-6AED-5D8D-D536-F83EF784B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>
            <a:extLst>
              <a:ext uri="{FF2B5EF4-FFF2-40B4-BE49-F238E27FC236}">
                <a16:creationId xmlns:a16="http://schemas.microsoft.com/office/drawing/2014/main" id="{2012719D-0EB9-80BD-8DB7-2223FCC9D964}"/>
              </a:ext>
            </a:extLst>
          </p:cNvPr>
          <p:cNvSpPr/>
          <p:nvPr/>
        </p:nvSpPr>
        <p:spPr>
          <a:xfrm>
            <a:off x="201168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B8785138-D804-0CB9-7495-9EC4C73EBDAD}"/>
              </a:ext>
            </a:extLst>
          </p:cNvPr>
          <p:cNvSpPr/>
          <p:nvPr/>
        </p:nvSpPr>
        <p:spPr>
          <a:xfrm>
            <a:off x="283464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0C8AFBB4-E450-B815-6F94-DB75F6B0C724}"/>
              </a:ext>
            </a:extLst>
          </p:cNvPr>
          <p:cNvSpPr/>
          <p:nvPr/>
        </p:nvSpPr>
        <p:spPr>
          <a:xfrm>
            <a:off x="365760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C248BF49-EBEA-10C6-D7F6-AE2A7FAA3E6E}"/>
              </a:ext>
            </a:extLst>
          </p:cNvPr>
          <p:cNvSpPr/>
          <p:nvPr/>
        </p:nvSpPr>
        <p:spPr>
          <a:xfrm>
            <a:off x="448056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F5C25DD1-D08F-0BE0-8B41-242C7B03D382}"/>
              </a:ext>
            </a:extLst>
          </p:cNvPr>
          <p:cNvSpPr/>
          <p:nvPr/>
        </p:nvSpPr>
        <p:spPr>
          <a:xfrm>
            <a:off x="530352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2CA36797-99BD-F4D2-57F6-E03711384C12}"/>
              </a:ext>
            </a:extLst>
          </p:cNvPr>
          <p:cNvSpPr/>
          <p:nvPr/>
        </p:nvSpPr>
        <p:spPr>
          <a:xfrm>
            <a:off x="621792" y="109728"/>
            <a:ext cx="749808" cy="210312"/>
          </a:xfrm>
          <a:prstGeom prst="parallelogram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D777EFFE-E05A-3745-7A5F-9EB1D3577236}"/>
              </a:ext>
            </a:extLst>
          </p:cNvPr>
          <p:cNvCxnSpPr/>
          <p:nvPr/>
        </p:nvCxnSpPr>
        <p:spPr>
          <a:xfrm>
            <a:off x="1389888" y="214884"/>
            <a:ext cx="10451592" cy="0"/>
          </a:xfrm>
          <a:prstGeom prst="line">
            <a:avLst/>
          </a:prstGeom>
          <a:ln w="1270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_ecnu_seal.png">
            <a:extLst>
              <a:ext uri="{FF2B5EF4-FFF2-40B4-BE49-F238E27FC236}">
                <a16:creationId xmlns:a16="http://schemas.microsoft.com/office/drawing/2014/main" id="{3196E254-D66C-1682-5D18-A0CE85F87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56616"/>
            <a:ext cx="431074" cy="4389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582874-80F2-B832-0CAA-A4CFC66346D8}"/>
              </a:ext>
            </a:extLst>
          </p:cNvPr>
          <p:cNvSpPr txBox="1"/>
          <p:nvPr/>
        </p:nvSpPr>
        <p:spPr>
          <a:xfrm>
            <a:off x="841248" y="384048"/>
            <a:ext cx="81381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43140"/>
                </a:solidFill>
                <a:latin typeface="微软雅黑" panose="020B0503020204020204" charset="-122"/>
              </a:rPr>
              <a:t>出门准备不只是“列一张清单”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683EFC-2644-0126-F42B-4344DCC9CC68}"/>
              </a:ext>
            </a:extLst>
          </p:cNvPr>
          <p:cNvSpPr txBox="1"/>
          <p:nvPr/>
        </p:nvSpPr>
        <p:spPr>
          <a:xfrm>
            <a:off x="9144000" y="420624"/>
            <a:ext cx="23317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77079"/>
                </a:solidFill>
                <a:latin typeface="微软雅黑" panose="020B0503020204020204" charset="-122"/>
              </a:rPr>
              <a:t>01  问题与目标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50B29AD8-82DB-6A5C-7A12-2D9A8D2B7762}"/>
              </a:ext>
            </a:extLst>
          </p:cNvPr>
          <p:cNvCxnSpPr/>
          <p:nvPr/>
        </p:nvCxnSpPr>
        <p:spPr>
          <a:xfrm>
            <a:off x="841248" y="859536"/>
            <a:ext cx="11000232" cy="0"/>
          </a:xfrm>
          <a:prstGeom prst="line">
            <a:avLst/>
          </a:prstGeom>
          <a:ln w="889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6663C07-8942-29A6-0460-F3C4A049B995}"/>
              </a:ext>
            </a:extLst>
          </p:cNvPr>
          <p:cNvSpPr txBox="1"/>
          <p:nvPr/>
        </p:nvSpPr>
        <p:spPr>
          <a:xfrm>
            <a:off x="11475720" y="6492240"/>
            <a:ext cx="3200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677079"/>
                </a:solidFill>
                <a:latin typeface="微软雅黑" panose="020B0503020204020204" charset="-122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CCD3F0-EF1A-E8DA-1955-5112769A46A5}"/>
              </a:ext>
            </a:extLst>
          </p:cNvPr>
          <p:cNvSpPr txBox="1"/>
          <p:nvPr/>
        </p:nvSpPr>
        <p:spPr>
          <a:xfrm>
            <a:off x="320040" y="6492240"/>
            <a:ext cx="2331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677079"/>
                </a:solidFill>
                <a:latin typeface="微软雅黑" panose="020B0503020204020204" charset="-122"/>
              </a:rPr>
              <a:t>EAST CHINA NORMAL UNIVERSITY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ECB338-9DB1-8937-9C38-52675DE15A9A}"/>
              </a:ext>
            </a:extLst>
          </p:cNvPr>
          <p:cNvSpPr txBox="1"/>
          <p:nvPr/>
        </p:nvSpPr>
        <p:spPr>
          <a:xfrm>
            <a:off x="868680" y="1060704"/>
            <a:ext cx="102412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77079"/>
                </a:solidFill>
                <a:latin typeface="微软雅黑" panose="020B0503020204020204" charset="-122"/>
              </a:rPr>
              <a:t>从信息提醒走向实际准备，机器人需要处理家庭环境中的多重不确定性。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A9DAA4B-747D-7F67-EB1E-97C249A8F113}"/>
              </a:ext>
            </a:extLst>
          </p:cNvPr>
          <p:cNvSpPr/>
          <p:nvPr/>
        </p:nvSpPr>
        <p:spPr>
          <a:xfrm>
            <a:off x="868680" y="1691640"/>
            <a:ext cx="32461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62BF7D2-E6AA-4F3A-78C5-B3647F63C7F4}"/>
              </a:ext>
            </a:extLst>
          </p:cNvPr>
          <p:cNvSpPr/>
          <p:nvPr/>
        </p:nvSpPr>
        <p:spPr>
          <a:xfrm>
            <a:off x="1033271" y="1874520"/>
            <a:ext cx="384048" cy="384048"/>
          </a:xfrm>
          <a:prstGeom prst="ellipse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BC7E09-6ECD-4331-4A8C-F908397873FB}"/>
              </a:ext>
            </a:extLst>
          </p:cNvPr>
          <p:cNvSpPr txBox="1"/>
          <p:nvPr/>
        </p:nvSpPr>
        <p:spPr>
          <a:xfrm>
            <a:off x="1033271" y="192024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243140"/>
                </a:solidFill>
                <a:latin typeface="微软雅黑" panose="020B0503020204020204" charset="-122"/>
              </a:rPr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14712B-F4E3-5720-6B68-804EA6D68977}"/>
              </a:ext>
            </a:extLst>
          </p:cNvPr>
          <p:cNvSpPr txBox="1"/>
          <p:nvPr/>
        </p:nvSpPr>
        <p:spPr>
          <a:xfrm>
            <a:off x="1527048" y="1856232"/>
            <a:ext cx="24231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43140"/>
                </a:solidFill>
                <a:latin typeface="微软雅黑" panose="020B0503020204020204" charset="-122"/>
              </a:rPr>
              <a:t>位置不固定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35D0F7-E3A5-4254-7B77-13330E6C122B}"/>
              </a:ext>
            </a:extLst>
          </p:cNvPr>
          <p:cNvSpPr txBox="1"/>
          <p:nvPr/>
        </p:nvSpPr>
        <p:spPr>
          <a:xfrm>
            <a:off x="1051561" y="2304288"/>
            <a:ext cx="2831745" cy="457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sz="1400" b="1" dirty="0" err="1">
                <a:solidFill>
                  <a:srgbClr val="67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钥匙、钱包等物品可能出现在玄关、客厅或卧室</a:t>
            </a:r>
            <a:r>
              <a:rPr sz="1400" b="1" dirty="0">
                <a:solidFill>
                  <a:srgbClr val="67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C839FD9-A004-6060-E51D-0CEAF4D6C5BF}"/>
              </a:ext>
            </a:extLst>
          </p:cNvPr>
          <p:cNvSpPr/>
          <p:nvPr/>
        </p:nvSpPr>
        <p:spPr>
          <a:xfrm>
            <a:off x="4572000" y="1691640"/>
            <a:ext cx="3246120" cy="1353312"/>
          </a:xfrm>
          <a:prstGeom prst="round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44B2535-6AB5-0B75-CB56-C1805A04998E}"/>
              </a:ext>
            </a:extLst>
          </p:cNvPr>
          <p:cNvSpPr/>
          <p:nvPr/>
        </p:nvSpPr>
        <p:spPr>
          <a:xfrm>
            <a:off x="4736592" y="1874520"/>
            <a:ext cx="384048" cy="384048"/>
          </a:xfrm>
          <a:prstGeom prst="ellipse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D8EA5C-C89E-5574-0934-05223C1201EE}"/>
              </a:ext>
            </a:extLst>
          </p:cNvPr>
          <p:cNvSpPr txBox="1"/>
          <p:nvPr/>
        </p:nvSpPr>
        <p:spPr>
          <a:xfrm>
            <a:off x="4736592" y="192024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243140"/>
                </a:solidFill>
                <a:latin typeface="微软雅黑" panose="020B0503020204020204" charset="-122"/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91E3175-3563-C5A0-F03B-748180B51AD3}"/>
              </a:ext>
            </a:extLst>
          </p:cNvPr>
          <p:cNvSpPr txBox="1"/>
          <p:nvPr/>
        </p:nvSpPr>
        <p:spPr>
          <a:xfrm>
            <a:off x="5230368" y="1856232"/>
            <a:ext cx="24231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</a:rPr>
              <a:t>环境较复杂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A5550A-6DD8-FF20-2DD1-8751021506E5}"/>
              </a:ext>
            </a:extLst>
          </p:cNvPr>
          <p:cNvSpPr txBox="1"/>
          <p:nvPr/>
        </p:nvSpPr>
        <p:spPr>
          <a:xfrm>
            <a:off x="4754880" y="2304288"/>
            <a:ext cx="2333972" cy="4574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dirty="0" err="1">
                <a:solidFill>
                  <a:srgbClr val="FFFFFF"/>
                </a:solidFill>
                <a:latin typeface="微软雅黑" panose="020B0503020204020204" charset="-122"/>
              </a:rPr>
              <a:t>遮挡、光照变化以及人员活动</a:t>
            </a:r>
            <a:endParaRPr sz="1400" b="0" dirty="0">
              <a:solidFill>
                <a:srgbClr val="FFFFFF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</a:pPr>
            <a:r>
              <a:rPr sz="1400" b="0" dirty="0" err="1">
                <a:solidFill>
                  <a:srgbClr val="FFFFFF"/>
                </a:solidFill>
                <a:latin typeface="微软雅黑" panose="020B0503020204020204" charset="-122"/>
              </a:rPr>
              <a:t>都会影响识别与移动</a:t>
            </a:r>
            <a:r>
              <a:rPr sz="1400" b="0" dirty="0">
                <a:solidFill>
                  <a:srgbClr val="FFFFFF"/>
                </a:solidFill>
                <a:latin typeface="微软雅黑" panose="020B0503020204020204" charset="-122"/>
              </a:rPr>
              <a:t>。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011BF5F3-6FB9-70A7-CEC4-C5B8AD3AE443}"/>
              </a:ext>
            </a:extLst>
          </p:cNvPr>
          <p:cNvSpPr/>
          <p:nvPr/>
        </p:nvSpPr>
        <p:spPr>
          <a:xfrm>
            <a:off x="8275319" y="1691640"/>
            <a:ext cx="324612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F28F334-0D69-CFB6-4536-7BB5FB20CAE2}"/>
              </a:ext>
            </a:extLst>
          </p:cNvPr>
          <p:cNvSpPr/>
          <p:nvPr/>
        </p:nvSpPr>
        <p:spPr>
          <a:xfrm>
            <a:off x="8439911" y="1874520"/>
            <a:ext cx="384048" cy="384048"/>
          </a:xfrm>
          <a:prstGeom prst="ellipse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B95815-5ABE-AD3B-672F-C2E4F1B0BFB0}"/>
              </a:ext>
            </a:extLst>
          </p:cNvPr>
          <p:cNvSpPr txBox="1"/>
          <p:nvPr/>
        </p:nvSpPr>
        <p:spPr>
          <a:xfrm>
            <a:off x="8439911" y="1920240"/>
            <a:ext cx="384048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243140"/>
                </a:solidFill>
                <a:latin typeface="微软雅黑" panose="020B0503020204020204" charset="-122"/>
              </a:rPr>
              <a:t>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EF7722E-73EC-1618-4094-2548D3ACAA82}"/>
              </a:ext>
            </a:extLst>
          </p:cNvPr>
          <p:cNvSpPr txBox="1"/>
          <p:nvPr/>
        </p:nvSpPr>
        <p:spPr>
          <a:xfrm>
            <a:off x="8933688" y="1856232"/>
            <a:ext cx="1447512" cy="2492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zh-CN" altLang="en-US" sz="1600" b="1" dirty="0">
                <a:solidFill>
                  <a:srgbClr val="243140"/>
                </a:solidFill>
                <a:latin typeface="微软雅黑" panose="020B0503020204020204" charset="-122"/>
              </a:rPr>
              <a:t>情境性和时效性</a:t>
            </a:r>
            <a:endParaRPr sz="1600" b="1" dirty="0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FA22F4-6A42-8585-2A8F-CDD3DE9C638C}"/>
              </a:ext>
            </a:extLst>
          </p:cNvPr>
          <p:cNvSpPr txBox="1"/>
          <p:nvPr/>
        </p:nvSpPr>
        <p:spPr>
          <a:xfrm>
            <a:off x="8366760" y="2304288"/>
            <a:ext cx="3154679" cy="6550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zh-CN" sz="1400" b="1" dirty="0">
                <a:solidFill>
                  <a:srgbClr val="67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天气变化、交通拥堵和临时日程都会影响用户真正需要携带的物品</a:t>
            </a:r>
            <a:r>
              <a:rPr lang="zh-CN" altLang="en-US" sz="1400" b="1" dirty="0">
                <a:solidFill>
                  <a:srgbClr val="67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1400" b="1" dirty="0">
              <a:solidFill>
                <a:srgbClr val="67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10000"/>
              </a:lnSpc>
            </a:pPr>
            <a:endParaRPr sz="1150" b="0" dirty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B4C526A-77E5-02EF-B82C-6039ACC43CBF}"/>
              </a:ext>
            </a:extLst>
          </p:cNvPr>
          <p:cNvSpPr/>
          <p:nvPr/>
        </p:nvSpPr>
        <p:spPr>
          <a:xfrm>
            <a:off x="868680" y="3493008"/>
            <a:ext cx="10469880" cy="1508760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D4E788-9595-2723-CE72-3CB9B7B03FD4}"/>
              </a:ext>
            </a:extLst>
          </p:cNvPr>
          <p:cNvSpPr txBox="1"/>
          <p:nvPr/>
        </p:nvSpPr>
        <p:spPr>
          <a:xfrm>
            <a:off x="1143000" y="3730752"/>
            <a:ext cx="11887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43140"/>
                </a:solidFill>
                <a:latin typeface="微软雅黑" panose="020B0503020204020204" charset="-122"/>
              </a:rPr>
              <a:t>传统方式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542EB1-47E2-EA3E-7418-FE9789340A4A}"/>
              </a:ext>
            </a:extLst>
          </p:cNvPr>
          <p:cNvSpPr txBox="1"/>
          <p:nvPr/>
        </p:nvSpPr>
        <p:spPr>
          <a:xfrm>
            <a:off x="1143000" y="4151376"/>
            <a:ext cx="233172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>
                <a:solidFill>
                  <a:srgbClr val="30373F"/>
                </a:solidFill>
                <a:latin typeface="微软雅黑" panose="020B0503020204020204" charset="-122"/>
              </a:rPr>
              <a:t>提醒用户“应该带什么”</a:t>
            </a:r>
          </a:p>
        </p:txBody>
      </p:sp>
      <p:cxnSp>
        <p:nvCxnSpPr>
          <p:cNvPr id="34" name="Connector 33">
            <a:extLst>
              <a:ext uri="{FF2B5EF4-FFF2-40B4-BE49-F238E27FC236}">
                <a16:creationId xmlns:a16="http://schemas.microsoft.com/office/drawing/2014/main" id="{2BB6ACE0-C819-F8CF-17C5-6FDF681D94ED}"/>
              </a:ext>
            </a:extLst>
          </p:cNvPr>
          <p:cNvCxnSpPr/>
          <p:nvPr/>
        </p:nvCxnSpPr>
        <p:spPr>
          <a:xfrm>
            <a:off x="3657600" y="4242816"/>
            <a:ext cx="1005840" cy="0"/>
          </a:xfrm>
          <a:prstGeom prst="line">
            <a:avLst/>
          </a:prstGeom>
          <a:ln w="508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4E38FEE9-86CD-1264-2E0C-562760E8FB90}"/>
              </a:ext>
            </a:extLst>
          </p:cNvPr>
          <p:cNvSpPr txBox="1"/>
          <p:nvPr/>
        </p:nvSpPr>
        <p:spPr>
          <a:xfrm>
            <a:off x="3657600" y="3785615"/>
            <a:ext cx="100584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>
                <a:solidFill>
                  <a:srgbClr val="E08B2C"/>
                </a:solidFill>
                <a:latin typeface="微软雅黑" panose="020B0503020204020204" charset="-122"/>
              </a:rPr>
              <a:t>能力升级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45970F7-D318-2322-66AD-1ACECEFBFB0A}"/>
              </a:ext>
            </a:extLst>
          </p:cNvPr>
          <p:cNvSpPr txBox="1"/>
          <p:nvPr/>
        </p:nvSpPr>
        <p:spPr>
          <a:xfrm>
            <a:off x="4983480" y="3730752"/>
            <a:ext cx="13258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43140"/>
                </a:solidFill>
                <a:latin typeface="微软雅黑" panose="020B0503020204020204" charset="-122"/>
              </a:rPr>
              <a:t>机器人辅助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604E78-3013-0C2F-2BA4-9DA0424643CE}"/>
              </a:ext>
            </a:extLst>
          </p:cNvPr>
          <p:cNvSpPr txBox="1"/>
          <p:nvPr/>
        </p:nvSpPr>
        <p:spPr>
          <a:xfrm>
            <a:off x="4983480" y="4151376"/>
            <a:ext cx="30632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0" dirty="0" err="1">
                <a:solidFill>
                  <a:srgbClr val="30373F"/>
                </a:solidFill>
                <a:latin typeface="微软雅黑" panose="020B0503020204020204" charset="-122"/>
              </a:rPr>
              <a:t>寻找、确认、搬运并集中放置</a:t>
            </a:r>
            <a:endParaRPr sz="1700" b="0" dirty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ABA1C898-3202-3C1A-C1C4-FE67DAC39517}"/>
              </a:ext>
            </a:extLst>
          </p:cNvPr>
          <p:cNvSpPr/>
          <p:nvPr/>
        </p:nvSpPr>
        <p:spPr>
          <a:xfrm>
            <a:off x="8366760" y="3639312"/>
            <a:ext cx="26517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26053A1-43FA-6B5F-4BF4-DBDAB04A0619}"/>
              </a:ext>
            </a:extLst>
          </p:cNvPr>
          <p:cNvSpPr/>
          <p:nvPr/>
        </p:nvSpPr>
        <p:spPr>
          <a:xfrm>
            <a:off x="8366760" y="3639312"/>
            <a:ext cx="109728" cy="1207008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E383A5-4A05-135D-4929-F5D396C18078}"/>
              </a:ext>
            </a:extLst>
          </p:cNvPr>
          <p:cNvSpPr txBox="1"/>
          <p:nvPr/>
        </p:nvSpPr>
        <p:spPr>
          <a:xfrm>
            <a:off x="8622792" y="3822191"/>
            <a:ext cx="224027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43140"/>
                </a:solidFill>
                <a:latin typeface="微软雅黑" panose="020B0503020204020204" charset="-122"/>
              </a:rPr>
              <a:t>核心问题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9405C98-A3C6-B0A2-06D1-E21ACD299B8A}"/>
              </a:ext>
            </a:extLst>
          </p:cNvPr>
          <p:cNvSpPr txBox="1"/>
          <p:nvPr/>
        </p:nvSpPr>
        <p:spPr>
          <a:xfrm>
            <a:off x="8622792" y="4206240"/>
            <a:ext cx="2610437" cy="424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 dirty="0" err="1">
                <a:solidFill>
                  <a:srgbClr val="67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如何让感知、决策、导航与操作</a:t>
            </a:r>
            <a:endParaRPr sz="1300" b="1" dirty="0">
              <a:solidFill>
                <a:srgbClr val="67707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0000"/>
              </a:lnSpc>
            </a:pPr>
            <a:r>
              <a:rPr sz="1300" b="1" dirty="0" err="1">
                <a:solidFill>
                  <a:srgbClr val="67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围绕同一项生活任务协同工作</a:t>
            </a:r>
            <a:r>
              <a:rPr lang="zh-CN" altLang="en-US" sz="1300" b="1" dirty="0">
                <a:solidFill>
                  <a:srgbClr val="6770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EAA6593-1241-CDC7-315B-E5B568E7EC3E}"/>
              </a:ext>
            </a:extLst>
          </p:cNvPr>
          <p:cNvSpPr txBox="1"/>
          <p:nvPr/>
        </p:nvSpPr>
        <p:spPr>
          <a:xfrm>
            <a:off x="914400" y="5349240"/>
            <a:ext cx="127000" cy="26098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endParaRPr sz="1700" b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9596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201168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283464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365760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448056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530352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arallelogram 6"/>
          <p:cNvSpPr/>
          <p:nvPr/>
        </p:nvSpPr>
        <p:spPr>
          <a:xfrm>
            <a:off x="621792" y="109728"/>
            <a:ext cx="749808" cy="210312"/>
          </a:xfrm>
          <a:prstGeom prst="parallelogram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389888" y="214884"/>
            <a:ext cx="10451592" cy="0"/>
          </a:xfrm>
          <a:prstGeom prst="line">
            <a:avLst/>
          </a:prstGeom>
          <a:ln w="1270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_ecnu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56616"/>
            <a:ext cx="431074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384048"/>
            <a:ext cx="81381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43140"/>
                </a:solidFill>
                <a:latin typeface="微软雅黑" panose="020B0503020204020204" charset="-122"/>
              </a:rPr>
              <a:t>研究目标与系统边界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20624"/>
            <a:ext cx="23317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 dirty="0">
                <a:solidFill>
                  <a:srgbClr val="677079"/>
                </a:solidFill>
                <a:latin typeface="微软雅黑" panose="020B0503020204020204" charset="-122"/>
              </a:rPr>
              <a:t>01  </a:t>
            </a:r>
            <a:r>
              <a:rPr sz="900" b="0" dirty="0" err="1">
                <a:solidFill>
                  <a:srgbClr val="677079"/>
                </a:solidFill>
                <a:latin typeface="微软雅黑" panose="020B0503020204020204" charset="-122"/>
              </a:rPr>
              <a:t>问题与目标</a:t>
            </a:r>
            <a:endParaRPr sz="900" b="0" dirty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841248" y="859536"/>
            <a:ext cx="11000232" cy="0"/>
          </a:xfrm>
          <a:prstGeom prst="line">
            <a:avLst/>
          </a:prstGeom>
          <a:ln w="889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75720" y="6492240"/>
            <a:ext cx="3200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677079"/>
                </a:solidFill>
                <a:latin typeface="微软雅黑" panose="020B0503020204020204" charset="-122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492240"/>
            <a:ext cx="2331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677079"/>
                </a:solidFill>
                <a:latin typeface="微软雅黑" panose="020B0503020204020204" charset="-122"/>
              </a:rPr>
              <a:t>EAST CHINA NORMAL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232" y="1078991"/>
            <a:ext cx="3125856" cy="2492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rgbClr val="677079"/>
                </a:solidFill>
                <a:latin typeface="微软雅黑" panose="020B0503020204020204" charset="-122"/>
              </a:rPr>
              <a:t>“</a:t>
            </a:r>
            <a:r>
              <a:rPr lang="zh-CN" altLang="zh-CN" sz="1600" dirty="0">
                <a:solidFill>
                  <a:srgbClr val="677079"/>
                </a:solidFill>
                <a:latin typeface="微软雅黑" panose="020B0503020204020204" charset="-122"/>
              </a:rPr>
              <a:t>建议</a:t>
            </a:r>
            <a:r>
              <a:rPr lang="en-US" altLang="zh-CN" sz="1600" dirty="0">
                <a:solidFill>
                  <a:srgbClr val="677079"/>
                </a:solidFill>
                <a:latin typeface="微软雅黑" panose="020B0503020204020204" charset="-122"/>
              </a:rPr>
              <a:t>—</a:t>
            </a:r>
            <a:r>
              <a:rPr lang="zh-CN" altLang="zh-CN" sz="1600" dirty="0">
                <a:solidFill>
                  <a:srgbClr val="677079"/>
                </a:solidFill>
                <a:latin typeface="微软雅黑" panose="020B0503020204020204" charset="-122"/>
              </a:rPr>
              <a:t>确认</a:t>
            </a:r>
            <a:r>
              <a:rPr lang="en-US" altLang="zh-CN" sz="1600" dirty="0">
                <a:solidFill>
                  <a:srgbClr val="677079"/>
                </a:solidFill>
                <a:latin typeface="微软雅黑" panose="020B0503020204020204" charset="-122"/>
              </a:rPr>
              <a:t>—</a:t>
            </a:r>
            <a:r>
              <a:rPr lang="zh-CN" altLang="zh-CN" sz="1600" dirty="0">
                <a:solidFill>
                  <a:srgbClr val="677079"/>
                </a:solidFill>
                <a:latin typeface="微软雅黑" panose="020B0503020204020204" charset="-122"/>
              </a:rPr>
              <a:t>执行</a:t>
            </a:r>
            <a:r>
              <a:rPr lang="en-US" altLang="zh-CN" sz="1600" dirty="0">
                <a:solidFill>
                  <a:srgbClr val="677079"/>
                </a:solidFill>
                <a:latin typeface="微软雅黑" panose="020B0503020204020204" charset="-122"/>
              </a:rPr>
              <a:t>—</a:t>
            </a:r>
            <a:r>
              <a:rPr lang="zh-CN" altLang="zh-CN" sz="1600" dirty="0">
                <a:solidFill>
                  <a:srgbClr val="677079"/>
                </a:solidFill>
                <a:latin typeface="微软雅黑" panose="020B0503020204020204" charset="-122"/>
              </a:rPr>
              <a:t>反馈</a:t>
            </a:r>
            <a:r>
              <a:rPr lang="en-US" altLang="zh-CN" sz="1600" dirty="0">
                <a:solidFill>
                  <a:srgbClr val="677079"/>
                </a:solidFill>
                <a:latin typeface="微软雅黑" panose="020B0503020204020204" charset="-122"/>
              </a:rPr>
              <a:t>”</a:t>
            </a:r>
            <a:r>
              <a:rPr lang="zh-CN" altLang="zh-CN" sz="1600" dirty="0">
                <a:solidFill>
                  <a:srgbClr val="677079"/>
                </a:solidFill>
                <a:latin typeface="微软雅黑" panose="020B0503020204020204" charset="-122"/>
              </a:rPr>
              <a:t>闭环</a:t>
            </a:r>
            <a:endParaRPr sz="1600" dirty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0120" y="1691640"/>
            <a:ext cx="10058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43140"/>
                </a:solidFill>
                <a:latin typeface="微软雅黑" panose="020B0503020204020204" charset="-122"/>
              </a:rPr>
              <a:t>输入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2148840"/>
            <a:ext cx="1874519" cy="347472"/>
          </a:xfrm>
          <a:prstGeom prst="roundRect">
            <a:avLst/>
          </a:prstGeom>
          <a:solidFill>
            <a:srgbClr val="FFE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2212848"/>
            <a:ext cx="1874519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用户清单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" y="2651760"/>
            <a:ext cx="1874519" cy="347472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2715768"/>
            <a:ext cx="1874519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出门场景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" y="3154680"/>
            <a:ext cx="1874519" cy="347472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" y="3218688"/>
            <a:ext cx="1874519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天气 / 交通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" y="3657600"/>
            <a:ext cx="1874519" cy="347472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3721608"/>
            <a:ext cx="1874519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日程 / 习惯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999232" y="2898648"/>
            <a:ext cx="731520" cy="0"/>
          </a:xfrm>
          <a:prstGeom prst="line">
            <a:avLst/>
          </a:prstGeom>
          <a:ln w="508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822191" y="1572768"/>
            <a:ext cx="3794760" cy="2944368"/>
          </a:xfrm>
          <a:prstGeom prst="round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33087" y="1828800"/>
            <a:ext cx="315468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>
                <a:solidFill>
                  <a:srgbClr val="FFC200"/>
                </a:solidFill>
                <a:latin typeface="微软雅黑" panose="020B0503020204020204" charset="-122"/>
              </a:rPr>
              <a:t>目标系统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0" y="2350008"/>
            <a:ext cx="1298448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0" y="2414015"/>
            <a:ext cx="1298448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任务理解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15000" y="2350008"/>
            <a:ext cx="1298448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15000" y="2414015"/>
            <a:ext cx="1298448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主动建议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0" y="2990087"/>
            <a:ext cx="1298448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14800" y="3054095"/>
            <a:ext cx="1298448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搜索识别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0" y="2990087"/>
            <a:ext cx="1298448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15000" y="3054095"/>
            <a:ext cx="1298448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抓取放置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19472" y="3630168"/>
            <a:ext cx="1298448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19472" y="3694176"/>
            <a:ext cx="1298448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状态反馈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818120" y="2898648"/>
            <a:ext cx="731520" cy="0"/>
          </a:xfrm>
          <a:prstGeom prst="line">
            <a:avLst/>
          </a:prstGeom>
          <a:ln w="508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778240" y="1691640"/>
            <a:ext cx="10058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43140"/>
                </a:solidFill>
                <a:latin typeface="微软雅黑" panose="020B0503020204020204" charset="-122"/>
              </a:rPr>
              <a:t>输出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05088" y="2148840"/>
            <a:ext cx="1874519" cy="347472"/>
          </a:xfrm>
          <a:prstGeom prst="roundRect">
            <a:avLst/>
          </a:prstGeom>
          <a:solidFill>
            <a:srgbClr val="FFE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705088" y="2212848"/>
            <a:ext cx="1874519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最终清单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05088" y="2651760"/>
            <a:ext cx="1874519" cy="347472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705088" y="2715768"/>
            <a:ext cx="1874519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搜索步骤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705088" y="3154680"/>
            <a:ext cx="1874519" cy="347472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705088" y="3218688"/>
            <a:ext cx="1874519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执行状态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705088" y="3657600"/>
            <a:ext cx="1874519" cy="347472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705088" y="3721608"/>
            <a:ext cx="1874519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出门提醒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68680" y="4882896"/>
            <a:ext cx="10424160" cy="0"/>
          </a:xfrm>
          <a:prstGeom prst="line">
            <a:avLst/>
          </a:prstGeom>
          <a:ln w="1270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201168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283464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365760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448056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530352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arallelogram 6"/>
          <p:cNvSpPr/>
          <p:nvPr/>
        </p:nvSpPr>
        <p:spPr>
          <a:xfrm>
            <a:off x="621792" y="109728"/>
            <a:ext cx="749808" cy="210312"/>
          </a:xfrm>
          <a:prstGeom prst="parallelogram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389888" y="214884"/>
            <a:ext cx="10451592" cy="0"/>
          </a:xfrm>
          <a:prstGeom prst="line">
            <a:avLst/>
          </a:prstGeom>
          <a:ln w="1270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_ecnu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56616"/>
            <a:ext cx="431074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384048"/>
            <a:ext cx="81381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43140"/>
                </a:solidFill>
                <a:latin typeface="微软雅黑" panose="020B0503020204020204" charset="-122"/>
              </a:rPr>
              <a:t>典型案例：雨天上班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6661" y="420624"/>
            <a:ext cx="779059" cy="1402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altLang="zh-CN" sz="900" dirty="0">
                <a:solidFill>
                  <a:srgbClr val="677079"/>
                </a:solidFill>
                <a:latin typeface="微软雅黑" panose="020B0503020204020204" charset="-122"/>
              </a:rPr>
              <a:t>01  </a:t>
            </a:r>
            <a:r>
              <a:rPr lang="zh-CN" altLang="en-US" sz="900" dirty="0">
                <a:solidFill>
                  <a:srgbClr val="677079"/>
                </a:solidFill>
                <a:latin typeface="微软雅黑" panose="020B0503020204020204" charset="-122"/>
              </a:rPr>
              <a:t>问题与目标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" y="859536"/>
            <a:ext cx="11000232" cy="0"/>
          </a:xfrm>
          <a:prstGeom prst="line">
            <a:avLst/>
          </a:prstGeom>
          <a:ln w="889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75720" y="6492240"/>
            <a:ext cx="3200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677079"/>
                </a:solidFill>
                <a:latin typeface="微软雅黑" panose="020B0503020204020204" charset="-122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492240"/>
            <a:ext cx="2331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677079"/>
                </a:solidFill>
                <a:latin typeface="微软雅黑" panose="020B0503020204020204" charset="-122"/>
              </a:rPr>
              <a:t>EAST CHINA NORMAL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060704"/>
            <a:ext cx="102412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77079"/>
                </a:solidFill>
                <a:latin typeface="微软雅黑" panose="020B0503020204020204" charset="-122"/>
              </a:rPr>
              <a:t>从三件用户指定物品，生成一条包含建议、搜索与提醒的完整任务。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1572768"/>
            <a:ext cx="2743200" cy="4389120"/>
          </a:xfrm>
          <a:prstGeom prst="round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70432" y="1847088"/>
            <a:ext cx="21488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100" b="1">
                <a:solidFill>
                  <a:srgbClr val="FFC200"/>
                </a:solidFill>
                <a:latin typeface="微软雅黑" panose="020B0503020204020204" charset="-122"/>
              </a:rPr>
              <a:t>案例输入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2423160"/>
            <a:ext cx="77724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用户清单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423160"/>
            <a:ext cx="13258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</a:rPr>
              <a:t>钥匙、钱包、耳机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143000" y="2743200"/>
            <a:ext cx="2103120" cy="0"/>
          </a:xfrm>
          <a:prstGeom prst="line">
            <a:avLst/>
          </a:prstGeom>
          <a:ln w="889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43000" y="3017520"/>
            <a:ext cx="77724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出门场景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3017520"/>
            <a:ext cx="13258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</a:rPr>
              <a:t>上班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43000" y="3337560"/>
            <a:ext cx="2103120" cy="0"/>
          </a:xfrm>
          <a:prstGeom prst="line">
            <a:avLst/>
          </a:prstGeom>
          <a:ln w="889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43000" y="3611880"/>
            <a:ext cx="77724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天气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3611880"/>
            <a:ext cx="13258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</a:rPr>
              <a:t>下雨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143000" y="3931920"/>
            <a:ext cx="2103120" cy="0"/>
          </a:xfrm>
          <a:prstGeom prst="line">
            <a:avLst/>
          </a:prstGeom>
          <a:ln w="889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143000" y="4206240"/>
            <a:ext cx="77724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交通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4206240"/>
            <a:ext cx="13258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</a:rPr>
              <a:t>拥堵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143000" y="4526279"/>
            <a:ext cx="2103120" cy="0"/>
          </a:xfrm>
          <a:prstGeom prst="line">
            <a:avLst/>
          </a:prstGeom>
          <a:ln w="889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143000" y="4800600"/>
            <a:ext cx="77724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</a:rPr>
              <a:t>日程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4800600"/>
            <a:ext cx="13258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1400" b="0">
                <a:solidFill>
                  <a:srgbClr val="FFFFFF"/>
                </a:solidFill>
                <a:latin typeface="微软雅黑" panose="020B0503020204020204" charset="-122"/>
              </a:rPr>
              <a:t>无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143000" y="5120640"/>
            <a:ext cx="2103120" cy="0"/>
          </a:xfrm>
          <a:prstGeom prst="line">
            <a:avLst/>
          </a:prstGeom>
          <a:ln w="8890">
            <a:solidFill>
              <a:srgbClr val="5B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40480" y="3694176"/>
            <a:ext cx="640080" cy="0"/>
          </a:xfrm>
          <a:prstGeom prst="line">
            <a:avLst/>
          </a:prstGeom>
          <a:ln w="508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572000" y="1572768"/>
            <a:ext cx="297180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37760" y="1847088"/>
            <a:ext cx="224028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100" b="1">
                <a:solidFill>
                  <a:srgbClr val="243140"/>
                </a:solidFill>
                <a:latin typeface="微软雅黑" panose="020B0503020204020204" charset="-122"/>
              </a:rPr>
              <a:t>规则判断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19472" y="2423160"/>
            <a:ext cx="226771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919472" y="2423160"/>
            <a:ext cx="109728" cy="749808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175504" y="2569464"/>
            <a:ext cx="544250" cy="5669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天气建议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00094" y="2633599"/>
            <a:ext cx="1174821" cy="5669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77079"/>
                </a:solidFill>
                <a:latin typeface="微软雅黑" panose="020B0503020204020204" charset="-122"/>
              </a:rPr>
              <a:t>下雨 → 推荐雨伞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19472" y="3383280"/>
            <a:ext cx="226771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919472" y="3383280"/>
            <a:ext cx="109728" cy="749808"/>
          </a:xfrm>
          <a:prstGeom prst="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75504" y="3529584"/>
            <a:ext cx="544250" cy="5669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习惯建议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99459" y="3529584"/>
            <a:ext cx="1174821" cy="5669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77079"/>
                </a:solidFill>
                <a:latin typeface="微软雅黑" panose="020B0503020204020204" charset="-122"/>
              </a:rPr>
              <a:t>上班 → 补充手机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919472" y="4343400"/>
            <a:ext cx="226771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919472" y="4343400"/>
            <a:ext cx="109728" cy="749808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175504" y="4489704"/>
            <a:ext cx="544250" cy="5669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交通提醒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99459" y="4489704"/>
            <a:ext cx="1174821" cy="5669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77079"/>
                </a:solidFill>
                <a:latin typeface="微软雅黑" panose="020B0503020204020204" charset="-122"/>
              </a:rPr>
              <a:t>拥堵 → 提前 15 分钟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790688" y="3694176"/>
            <a:ext cx="640080" cy="0"/>
          </a:xfrm>
          <a:prstGeom prst="line">
            <a:avLst/>
          </a:prstGeom>
          <a:ln w="508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8549640" y="1572768"/>
            <a:ext cx="2606040" cy="4389120"/>
          </a:xfrm>
          <a:prstGeom prst="round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869680" y="1847088"/>
            <a:ext cx="196596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100" b="1">
                <a:solidFill>
                  <a:srgbClr val="243140"/>
                </a:solidFill>
                <a:latin typeface="微软雅黑" panose="020B0503020204020204" charset="-122"/>
              </a:rPr>
              <a:t>案例输出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2450592"/>
            <a:ext cx="196596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243140"/>
                </a:solidFill>
                <a:latin typeface="微软雅黑" panose="020B0503020204020204" charset="-122"/>
              </a:rPr>
              <a:t>最终清单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915400" y="2852928"/>
            <a:ext cx="804672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915400" y="2916936"/>
            <a:ext cx="80467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钥匙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02952" y="2852928"/>
            <a:ext cx="804672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902952" y="2916936"/>
            <a:ext cx="80467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钱包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915400" y="3355848"/>
            <a:ext cx="804672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915400" y="3419856"/>
            <a:ext cx="80467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耳机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902952" y="3355848"/>
            <a:ext cx="804672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902952" y="3419856"/>
            <a:ext cx="80467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雨伞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915400" y="3858768"/>
            <a:ext cx="804672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915400" y="3922776"/>
            <a:ext cx="80467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手机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49868" y="4553712"/>
            <a:ext cx="1996440" cy="4394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系统进一步生成搜索顺序、</a:t>
            </a:r>
          </a:p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执行状态与出门提醒。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201168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283464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365760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448056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530352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arallelogram 6"/>
          <p:cNvSpPr/>
          <p:nvPr/>
        </p:nvSpPr>
        <p:spPr>
          <a:xfrm>
            <a:off x="621792" y="109728"/>
            <a:ext cx="749808" cy="210312"/>
          </a:xfrm>
          <a:prstGeom prst="parallelogram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389888" y="214884"/>
            <a:ext cx="10451592" cy="0"/>
          </a:xfrm>
          <a:prstGeom prst="line">
            <a:avLst/>
          </a:prstGeom>
          <a:ln w="1270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_ecnu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56616"/>
            <a:ext cx="431074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384048"/>
            <a:ext cx="81381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43140"/>
                </a:solidFill>
                <a:latin typeface="微软雅黑" panose="020B0503020204020204" charset="-122"/>
              </a:rPr>
              <a:t>一套框架，适应多种出门情境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20624"/>
            <a:ext cx="23317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77079"/>
                </a:solidFill>
                <a:latin typeface="微软雅黑" panose="020B0503020204020204" charset="-122"/>
              </a:rPr>
              <a:t>01  问题与目标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" y="859536"/>
            <a:ext cx="11000232" cy="0"/>
          </a:xfrm>
          <a:prstGeom prst="line">
            <a:avLst/>
          </a:prstGeom>
          <a:ln w="889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75720" y="6492240"/>
            <a:ext cx="3200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677079"/>
                </a:solidFill>
                <a:latin typeface="微软雅黑" panose="020B0503020204020204" charset="-122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492240"/>
            <a:ext cx="2331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677079"/>
                </a:solidFill>
                <a:latin typeface="微软雅黑" panose="020B0503020204020204" charset="-122"/>
              </a:rPr>
              <a:t>EAST CHINA NORMAL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060704"/>
            <a:ext cx="102412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77079"/>
                </a:solidFill>
                <a:latin typeface="微软雅黑" panose="020B0503020204020204" charset="-122"/>
              </a:rPr>
              <a:t>场景不同，触发条件和目标物品不同；任务结构保持一致。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1691640"/>
            <a:ext cx="25146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22960" y="1691640"/>
            <a:ext cx="2514600" cy="594360"/>
          </a:xfrm>
          <a:prstGeom prst="round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" y="1865376"/>
            <a:ext cx="2221992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 dirty="0" err="1">
                <a:solidFill>
                  <a:srgbClr val="243140"/>
                </a:solidFill>
                <a:latin typeface="微软雅黑" panose="020B0503020204020204" charset="-122"/>
              </a:rPr>
              <a:t>雨天上班</a:t>
            </a:r>
            <a:endParaRPr sz="1700" b="1" dirty="0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24128" y="2560320"/>
            <a:ext cx="91440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677079"/>
                </a:solidFill>
                <a:latin typeface="微软雅黑" panose="020B0503020204020204" charset="-122"/>
              </a:rPr>
              <a:t>触发条件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2871216"/>
            <a:ext cx="2057400" cy="621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dirty="0" err="1">
                <a:solidFill>
                  <a:srgbClr val="30373F"/>
                </a:solidFill>
                <a:latin typeface="微软雅黑" panose="020B0503020204020204" charset="-122"/>
              </a:rPr>
              <a:t>天气：下雨</a:t>
            </a:r>
            <a:r>
              <a:rPr sz="1500" b="0" dirty="0">
                <a:solidFill>
                  <a:srgbClr val="30373F"/>
                </a:solidFill>
                <a:latin typeface="微软雅黑" panose="020B0503020204020204" charset="-122"/>
              </a:rPr>
              <a:t>
</a:t>
            </a:r>
            <a:r>
              <a:rPr sz="1500" b="0" dirty="0" err="1">
                <a:solidFill>
                  <a:srgbClr val="30373F"/>
                </a:solidFill>
                <a:latin typeface="微软雅黑" panose="020B0503020204020204" charset="-122"/>
              </a:rPr>
              <a:t>交通：拥堵</a:t>
            </a:r>
            <a:endParaRPr sz="1500" b="0" dirty="0">
              <a:solidFill>
                <a:srgbClr val="30373F"/>
              </a:solidFill>
              <a:latin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1024128" y="3593592"/>
            <a:ext cx="2084832" cy="0"/>
          </a:xfrm>
          <a:prstGeom prst="line">
            <a:avLst/>
          </a:prstGeom>
          <a:ln w="1016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24128" y="3776472"/>
            <a:ext cx="91440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677079"/>
                </a:solidFill>
                <a:latin typeface="微软雅黑" panose="020B0503020204020204" charset="-122"/>
              </a:rPr>
              <a:t>系统响应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4096512"/>
            <a:ext cx="2057400" cy="621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43140"/>
                </a:solidFill>
                <a:latin typeface="微软雅黑" panose="020B0503020204020204" charset="-122"/>
              </a:rPr>
              <a:t>补充雨伞
提醒提前出门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39312" y="1691640"/>
            <a:ext cx="25146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639312" y="1691640"/>
            <a:ext cx="2514600" cy="594360"/>
          </a:xfrm>
          <a:prstGeom prst="round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85615" y="1865376"/>
            <a:ext cx="2221992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会议出门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2560320"/>
            <a:ext cx="91440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677079"/>
                </a:solidFill>
                <a:latin typeface="微软雅黑" panose="020B0503020204020204" charset="-122"/>
              </a:rPr>
              <a:t>触发条件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2871216"/>
            <a:ext cx="2057400" cy="621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30373F"/>
                </a:solidFill>
                <a:latin typeface="微软雅黑" panose="020B0503020204020204" charset="-122"/>
              </a:rPr>
              <a:t>日程：会议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840480" y="3593592"/>
            <a:ext cx="2084832" cy="0"/>
          </a:xfrm>
          <a:prstGeom prst="line">
            <a:avLst/>
          </a:prstGeom>
          <a:ln w="1016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840480" y="3776472"/>
            <a:ext cx="91440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677079"/>
                </a:solidFill>
                <a:latin typeface="微软雅黑" panose="020B0503020204020204" charset="-122"/>
              </a:rPr>
              <a:t>系统响应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096512"/>
            <a:ext cx="2057400" cy="621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43140"/>
                </a:solidFill>
                <a:latin typeface="微软雅黑" panose="020B0503020204020204" charset="-122"/>
              </a:rPr>
              <a:t>补充电脑
文件夹与证件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55664" y="1691640"/>
            <a:ext cx="25146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455664" y="1691640"/>
            <a:ext cx="2514600" cy="594360"/>
          </a:xfrm>
          <a:prstGeom prst="round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601968" y="1865376"/>
            <a:ext cx="2221992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243140"/>
                </a:solidFill>
                <a:latin typeface="微软雅黑" panose="020B0503020204020204" charset="-122"/>
              </a:rPr>
              <a:t>老人就医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6832" y="2560320"/>
            <a:ext cx="91440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677079"/>
                </a:solidFill>
                <a:latin typeface="微软雅黑" panose="020B0503020204020204" charset="-122"/>
              </a:rPr>
              <a:t>触发条件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56832" y="2871216"/>
            <a:ext cx="2057400" cy="621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30373F"/>
                </a:solidFill>
                <a:latin typeface="微软雅黑" panose="020B0503020204020204" charset="-122"/>
              </a:rPr>
              <a:t>日程：就医
天气：降温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656832" y="3593592"/>
            <a:ext cx="2084832" cy="0"/>
          </a:xfrm>
          <a:prstGeom prst="line">
            <a:avLst/>
          </a:prstGeom>
          <a:ln w="1016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656832" y="3776472"/>
            <a:ext cx="91440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677079"/>
                </a:solidFill>
                <a:latin typeface="微软雅黑" panose="020B0503020204020204" charset="-122"/>
              </a:rPr>
              <a:t>系统响应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56832" y="4096512"/>
            <a:ext cx="2057400" cy="621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43140"/>
                </a:solidFill>
                <a:latin typeface="微软雅黑" panose="020B0503020204020204" charset="-122"/>
              </a:rPr>
              <a:t>补充药盒、眼镜
证件与外套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72016" y="1691640"/>
            <a:ext cx="251460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9272016" y="1691640"/>
            <a:ext cx="2514600" cy="594360"/>
          </a:xfrm>
          <a:prstGeom prst="round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418320" y="1865376"/>
            <a:ext cx="2221992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普通外出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73184" y="2560320"/>
            <a:ext cx="91440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677079"/>
                </a:solidFill>
                <a:latin typeface="微软雅黑" panose="020B0503020204020204" charset="-122"/>
              </a:rPr>
              <a:t>触发条件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73184" y="2871216"/>
            <a:ext cx="2057400" cy="621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30373F"/>
                </a:solidFill>
                <a:latin typeface="微软雅黑" panose="020B0503020204020204" charset="-122"/>
              </a:rPr>
              <a:t>天气：晴朗
无特殊日程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9473184" y="3593592"/>
            <a:ext cx="2084832" cy="0"/>
          </a:xfrm>
          <a:prstGeom prst="line">
            <a:avLst/>
          </a:prstGeom>
          <a:ln w="1016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473184" y="3776472"/>
            <a:ext cx="91440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677079"/>
                </a:solidFill>
                <a:latin typeface="微软雅黑" panose="020B0503020204020204" charset="-122"/>
              </a:rPr>
              <a:t>系统响应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73184" y="4096512"/>
            <a:ext cx="2057400" cy="6217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43140"/>
                </a:solidFill>
                <a:latin typeface="微软雅黑" panose="020B0503020204020204" charset="-122"/>
              </a:rPr>
              <a:t>按用户清单
完成基础准备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5285232"/>
            <a:ext cx="11430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243140"/>
                </a:solidFill>
                <a:latin typeface="微软雅黑" panose="020B0503020204020204" charset="-122"/>
              </a:rPr>
              <a:t>共同需求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03120" y="5230368"/>
            <a:ext cx="1353312" cy="347472"/>
          </a:xfrm>
          <a:prstGeom prst="roundRect">
            <a:avLst/>
          </a:prstGeom>
          <a:solidFill>
            <a:srgbClr val="FFE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103120" y="5294376"/>
            <a:ext cx="135331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清单解析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776472" y="5230368"/>
            <a:ext cx="1353312" cy="347472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776472" y="5294376"/>
            <a:ext cx="135331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场景判断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449824" y="5230368"/>
            <a:ext cx="1353312" cy="347472"/>
          </a:xfrm>
          <a:prstGeom prst="roundRect">
            <a:avLst/>
          </a:prstGeom>
          <a:solidFill>
            <a:srgbClr val="FFE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449824" y="5294376"/>
            <a:ext cx="135331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位置预测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123176" y="5230368"/>
            <a:ext cx="1353312" cy="347472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123176" y="5294376"/>
            <a:ext cx="135331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任务执行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796528" y="5230368"/>
            <a:ext cx="1353312" cy="347472"/>
          </a:xfrm>
          <a:prstGeom prst="roundRect">
            <a:avLst/>
          </a:prstGeom>
          <a:solidFill>
            <a:srgbClr val="FFE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796528" y="5294376"/>
            <a:ext cx="135331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状态反馈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" y="5897880"/>
            <a:ext cx="127000" cy="2362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endParaRPr sz="14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201168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283464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365760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448056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530352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arallelogram 6"/>
          <p:cNvSpPr/>
          <p:nvPr/>
        </p:nvSpPr>
        <p:spPr>
          <a:xfrm>
            <a:off x="621792" y="109728"/>
            <a:ext cx="749808" cy="210312"/>
          </a:xfrm>
          <a:prstGeom prst="parallelogram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389888" y="214884"/>
            <a:ext cx="10451592" cy="0"/>
          </a:xfrm>
          <a:prstGeom prst="line">
            <a:avLst/>
          </a:prstGeom>
          <a:ln w="1270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_ecnu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56616"/>
            <a:ext cx="431074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384048"/>
            <a:ext cx="81381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dirty="0" err="1">
                <a:solidFill>
                  <a:srgbClr val="243140"/>
                </a:solidFill>
                <a:latin typeface="微软雅黑" panose="020B0503020204020204" charset="-122"/>
              </a:rPr>
              <a:t>系统总体架构</a:t>
            </a:r>
            <a:endParaRPr sz="2400" b="1" dirty="0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0" y="420624"/>
            <a:ext cx="23317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77079"/>
                </a:solidFill>
                <a:latin typeface="微软雅黑" panose="020B0503020204020204" charset="-122"/>
              </a:rPr>
              <a:t>02  系统方案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" y="859536"/>
            <a:ext cx="11000232" cy="0"/>
          </a:xfrm>
          <a:prstGeom prst="line">
            <a:avLst/>
          </a:prstGeom>
          <a:ln w="889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75720" y="6492240"/>
            <a:ext cx="3200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677079"/>
                </a:solidFill>
                <a:latin typeface="微软雅黑" panose="020B0503020204020204" charset="-122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492240"/>
            <a:ext cx="2331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677079"/>
                </a:solidFill>
                <a:latin typeface="微软雅黑" panose="020B0503020204020204" charset="-122"/>
              </a:rPr>
              <a:t>EAST CHINA NORMAL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060704"/>
            <a:ext cx="102412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77079"/>
                </a:solidFill>
                <a:latin typeface="微软雅黑" panose="020B0503020204020204" charset="-122"/>
              </a:rPr>
              <a:t>按照“交互—决策—感知—执行”组织信息流与控制流。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1600200"/>
            <a:ext cx="7452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14400" y="1600200"/>
            <a:ext cx="1600200" cy="713232"/>
          </a:xfrm>
          <a:prstGeom prst="round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4128" y="1810512"/>
            <a:ext cx="1371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243140"/>
                </a:solidFill>
                <a:latin typeface="微软雅黑" panose="020B0503020204020204" charset="-122"/>
              </a:rPr>
              <a:t>用户交互层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0632" y="1792224"/>
            <a:ext cx="52578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30373F"/>
                </a:solidFill>
                <a:latin typeface="微软雅黑" panose="020B0503020204020204" charset="-122"/>
              </a:rPr>
              <a:t>清单输入  ·  建议确认  ·  状态反馈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645152" y="2313432"/>
            <a:ext cx="0" cy="256032"/>
          </a:xfrm>
          <a:prstGeom prst="line">
            <a:avLst/>
          </a:prstGeom>
          <a:ln w="254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14400" y="2587752"/>
            <a:ext cx="7452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14400" y="2587752"/>
            <a:ext cx="1600200" cy="713232"/>
          </a:xfrm>
          <a:prstGeom prst="round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24128" y="2798064"/>
            <a:ext cx="1371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任务决策层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70632" y="2779776"/>
            <a:ext cx="52578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30373F"/>
                </a:solidFill>
                <a:latin typeface="微软雅黑" panose="020B0503020204020204" charset="-122"/>
              </a:rPr>
              <a:t>清单解析  ·  主动建议  ·  任务规划  ·  异常决策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645152" y="3300984"/>
            <a:ext cx="0" cy="256032"/>
          </a:xfrm>
          <a:prstGeom prst="line">
            <a:avLst/>
          </a:prstGeom>
          <a:ln w="254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14400" y="3575304"/>
            <a:ext cx="7452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14400" y="3575304"/>
            <a:ext cx="1600200" cy="713232"/>
          </a:xfrm>
          <a:prstGeom prst="roundRect">
            <a:avLst/>
          </a:prstGeom>
          <a:solidFill>
            <a:srgbClr val="546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4128" y="3785616"/>
            <a:ext cx="1371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感知定位层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70632" y="3767328"/>
            <a:ext cx="52578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30373F"/>
                </a:solidFill>
                <a:latin typeface="微软雅黑" panose="020B0503020204020204" charset="-122"/>
              </a:rPr>
              <a:t>视觉识别  ·  标签确认  ·  位置预测  ·  坐标转换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645152" y="4288536"/>
            <a:ext cx="0" cy="256032"/>
          </a:xfrm>
          <a:prstGeom prst="line">
            <a:avLst/>
          </a:prstGeom>
          <a:ln w="254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14400" y="4562856"/>
            <a:ext cx="74523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14400" y="4562856"/>
            <a:ext cx="1600200" cy="713232"/>
          </a:xfrm>
          <a:prstGeom prst="roundRect">
            <a:avLst/>
          </a:prstGeom>
          <a:solidFill>
            <a:srgbClr val="243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24128" y="4773168"/>
            <a:ext cx="13716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机器人执行层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70632" y="4754880"/>
            <a:ext cx="52578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30373F"/>
                </a:solidFill>
                <a:latin typeface="微软雅黑" panose="020B0503020204020204" charset="-122"/>
              </a:rPr>
              <a:t>导航  ·  搜索  ·  抓取  ·  搬运  ·  放置确认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9680" y="1600200"/>
            <a:ext cx="2331720" cy="3675887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25712" y="1847088"/>
            <a:ext cx="18288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243140"/>
                </a:solidFill>
                <a:latin typeface="微软雅黑" panose="020B0503020204020204" charset="-122"/>
              </a:rPr>
              <a:t>环境与数据支撑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17152" y="2359152"/>
            <a:ext cx="1600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17152" y="2423160"/>
            <a:ext cx="160020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天气与交通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17152" y="2871216"/>
            <a:ext cx="1600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17152" y="2935224"/>
            <a:ext cx="160020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日程信息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17152" y="3383280"/>
            <a:ext cx="1600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17152" y="3447288"/>
            <a:ext cx="160020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物品信息库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17152" y="3895344"/>
            <a:ext cx="1600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17152" y="3959352"/>
            <a:ext cx="160020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用户习惯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217152" y="4407408"/>
            <a:ext cx="1600200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217152" y="4471416"/>
            <a:ext cx="160020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任务记录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8412480" y="3429000"/>
            <a:ext cx="457200" cy="0"/>
          </a:xfrm>
          <a:prstGeom prst="line">
            <a:avLst/>
          </a:prstGeom>
          <a:ln w="381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14400" y="5687568"/>
            <a:ext cx="10287000" cy="0"/>
          </a:xfrm>
          <a:prstGeom prst="line">
            <a:avLst/>
          </a:prstGeom>
          <a:ln w="1143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914400" y="5907024"/>
            <a:ext cx="11430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243140"/>
                </a:solidFill>
                <a:latin typeface="微软雅黑" panose="020B0503020204020204" charset="-122"/>
              </a:rPr>
              <a:t>闭环关系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93392" y="5907024"/>
            <a:ext cx="804672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30373F"/>
                </a:solidFill>
                <a:latin typeface="微软雅黑" panose="020B0503020204020204" charset="-122"/>
              </a:rPr>
              <a:t>感知结果支持决策，执行结果更新状态，用户反馈进一步修正任务。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201168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283464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365760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448056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530352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arallelogram 6"/>
          <p:cNvSpPr/>
          <p:nvPr/>
        </p:nvSpPr>
        <p:spPr>
          <a:xfrm>
            <a:off x="621792" y="109728"/>
            <a:ext cx="749808" cy="210312"/>
          </a:xfrm>
          <a:prstGeom prst="parallelogram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389888" y="214884"/>
            <a:ext cx="10451592" cy="0"/>
          </a:xfrm>
          <a:prstGeom prst="line">
            <a:avLst/>
          </a:prstGeom>
          <a:ln w="1270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_ecnu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56616"/>
            <a:ext cx="431074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384048"/>
            <a:ext cx="2769989" cy="3779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b="1" dirty="0">
                <a:solidFill>
                  <a:srgbClr val="2431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软件架构技术路线图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20624"/>
            <a:ext cx="23317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77079"/>
                </a:solidFill>
                <a:latin typeface="微软雅黑" panose="020B0503020204020204" charset="-122"/>
              </a:rPr>
              <a:t>02  系统方案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" y="859536"/>
            <a:ext cx="11000232" cy="0"/>
          </a:xfrm>
          <a:prstGeom prst="line">
            <a:avLst/>
          </a:prstGeom>
          <a:ln w="889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75720" y="6492240"/>
            <a:ext cx="3200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677079"/>
                </a:solidFill>
                <a:latin typeface="微软雅黑" panose="020B0503020204020204" charset="-122"/>
              </a:rPr>
              <a:t>06</a:t>
            </a:r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4BA2B7A6-9B69-2883-B54D-FB29CC82AC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620"/>
          <a:stretch>
            <a:fillRect/>
          </a:stretch>
        </p:blipFill>
        <p:spPr>
          <a:xfrm>
            <a:off x="823016" y="825979"/>
            <a:ext cx="10339315" cy="58476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0CB47-EDDA-8936-57EF-1F781A4A0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>
            <a:extLst>
              <a:ext uri="{FF2B5EF4-FFF2-40B4-BE49-F238E27FC236}">
                <a16:creationId xmlns:a16="http://schemas.microsoft.com/office/drawing/2014/main" id="{2A4C303A-0E19-C88B-397C-A4D0D0F2896A}"/>
              </a:ext>
            </a:extLst>
          </p:cNvPr>
          <p:cNvSpPr/>
          <p:nvPr/>
        </p:nvSpPr>
        <p:spPr>
          <a:xfrm>
            <a:off x="201168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C7E1CB63-D768-B1DE-AAB5-D1CAA071A91B}"/>
              </a:ext>
            </a:extLst>
          </p:cNvPr>
          <p:cNvSpPr/>
          <p:nvPr/>
        </p:nvSpPr>
        <p:spPr>
          <a:xfrm>
            <a:off x="283464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3F045C40-FE59-C89F-79D6-F762043006F7}"/>
              </a:ext>
            </a:extLst>
          </p:cNvPr>
          <p:cNvSpPr/>
          <p:nvPr/>
        </p:nvSpPr>
        <p:spPr>
          <a:xfrm>
            <a:off x="365760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DD541BD9-21D4-8B90-CE8B-A3604C97E08D}"/>
              </a:ext>
            </a:extLst>
          </p:cNvPr>
          <p:cNvSpPr/>
          <p:nvPr/>
        </p:nvSpPr>
        <p:spPr>
          <a:xfrm>
            <a:off x="448056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6F5AE026-21B1-A66C-8DE7-2683172C2B25}"/>
              </a:ext>
            </a:extLst>
          </p:cNvPr>
          <p:cNvSpPr/>
          <p:nvPr/>
        </p:nvSpPr>
        <p:spPr>
          <a:xfrm>
            <a:off x="530352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1DC1E51C-C41E-BCDB-B725-5C1065FBF133}"/>
              </a:ext>
            </a:extLst>
          </p:cNvPr>
          <p:cNvSpPr/>
          <p:nvPr/>
        </p:nvSpPr>
        <p:spPr>
          <a:xfrm>
            <a:off x="621792" y="109728"/>
            <a:ext cx="749808" cy="210312"/>
          </a:xfrm>
          <a:prstGeom prst="parallelogram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13FC17BF-B1AE-F2EC-8598-7B1F9C8EA5C2}"/>
              </a:ext>
            </a:extLst>
          </p:cNvPr>
          <p:cNvCxnSpPr/>
          <p:nvPr/>
        </p:nvCxnSpPr>
        <p:spPr>
          <a:xfrm>
            <a:off x="1389888" y="214884"/>
            <a:ext cx="10451592" cy="0"/>
          </a:xfrm>
          <a:prstGeom prst="line">
            <a:avLst/>
          </a:prstGeom>
          <a:ln w="1270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_ecnu_seal.png">
            <a:extLst>
              <a:ext uri="{FF2B5EF4-FFF2-40B4-BE49-F238E27FC236}">
                <a16:creationId xmlns:a16="http://schemas.microsoft.com/office/drawing/2014/main" id="{02B3B693-2FA4-9484-21FA-A2BE3103E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56616"/>
            <a:ext cx="431074" cy="4389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698E84-EDB1-82C2-48A2-DB6768031895}"/>
              </a:ext>
            </a:extLst>
          </p:cNvPr>
          <p:cNvSpPr txBox="1"/>
          <p:nvPr/>
        </p:nvSpPr>
        <p:spPr>
          <a:xfrm>
            <a:off x="841248" y="384048"/>
            <a:ext cx="2769989" cy="3779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400" b="1" dirty="0">
                <a:solidFill>
                  <a:srgbClr val="2431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硬件架构技术路线图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6518A4A-1180-5915-BA63-0507F52360D9}"/>
              </a:ext>
            </a:extLst>
          </p:cNvPr>
          <p:cNvSpPr txBox="1"/>
          <p:nvPr/>
        </p:nvSpPr>
        <p:spPr>
          <a:xfrm>
            <a:off x="9144000" y="420624"/>
            <a:ext cx="23317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77079"/>
                </a:solidFill>
                <a:latin typeface="微软雅黑" panose="020B0503020204020204" charset="-122"/>
              </a:rPr>
              <a:t>02  系统方案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3C728EAF-1266-C6EE-D055-0AFC80C0C0D4}"/>
              </a:ext>
            </a:extLst>
          </p:cNvPr>
          <p:cNvCxnSpPr/>
          <p:nvPr/>
        </p:nvCxnSpPr>
        <p:spPr>
          <a:xfrm>
            <a:off x="841248" y="859536"/>
            <a:ext cx="11000232" cy="0"/>
          </a:xfrm>
          <a:prstGeom prst="line">
            <a:avLst/>
          </a:prstGeom>
          <a:ln w="889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9F04D1D-2DFD-A0FA-D4B2-92A40EAFAF6A}"/>
              </a:ext>
            </a:extLst>
          </p:cNvPr>
          <p:cNvSpPr txBox="1"/>
          <p:nvPr/>
        </p:nvSpPr>
        <p:spPr>
          <a:xfrm>
            <a:off x="11475720" y="6492240"/>
            <a:ext cx="3200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677079"/>
                </a:solidFill>
                <a:latin typeface="微软雅黑" panose="020B0503020204020204" charset="-122"/>
              </a:rPr>
              <a:t>06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BE0A21F-C019-C696-E4AF-D11F332A73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699"/>
          <a:stretch>
            <a:fillRect/>
          </a:stretch>
        </p:blipFill>
        <p:spPr>
          <a:xfrm>
            <a:off x="310896" y="825177"/>
            <a:ext cx="11440762" cy="556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7511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4FCD5-A15A-6EEB-1CBF-F52D3407F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>
            <a:extLst>
              <a:ext uri="{FF2B5EF4-FFF2-40B4-BE49-F238E27FC236}">
                <a16:creationId xmlns:a16="http://schemas.microsoft.com/office/drawing/2014/main" id="{5493CB24-EB98-CCF3-F641-41BC42DE8A5A}"/>
              </a:ext>
            </a:extLst>
          </p:cNvPr>
          <p:cNvSpPr/>
          <p:nvPr/>
        </p:nvSpPr>
        <p:spPr>
          <a:xfrm>
            <a:off x="201168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>
            <a:extLst>
              <a:ext uri="{FF2B5EF4-FFF2-40B4-BE49-F238E27FC236}">
                <a16:creationId xmlns:a16="http://schemas.microsoft.com/office/drawing/2014/main" id="{D1843F40-34B3-944C-926E-0F661E31FE4F}"/>
              </a:ext>
            </a:extLst>
          </p:cNvPr>
          <p:cNvSpPr/>
          <p:nvPr/>
        </p:nvSpPr>
        <p:spPr>
          <a:xfrm>
            <a:off x="283464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8794EFD7-7433-38DF-0F31-283F9610952C}"/>
              </a:ext>
            </a:extLst>
          </p:cNvPr>
          <p:cNvSpPr/>
          <p:nvPr/>
        </p:nvSpPr>
        <p:spPr>
          <a:xfrm>
            <a:off x="365760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8F3FD9A2-1769-428F-D7CE-BCFA48F726A6}"/>
              </a:ext>
            </a:extLst>
          </p:cNvPr>
          <p:cNvSpPr/>
          <p:nvPr/>
        </p:nvSpPr>
        <p:spPr>
          <a:xfrm>
            <a:off x="448056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E618F514-7B72-0F38-315B-22ABE8878160}"/>
              </a:ext>
            </a:extLst>
          </p:cNvPr>
          <p:cNvSpPr/>
          <p:nvPr/>
        </p:nvSpPr>
        <p:spPr>
          <a:xfrm>
            <a:off x="530352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50A19DF4-FE9F-06F5-4EE1-81D8BC87D16A}"/>
              </a:ext>
            </a:extLst>
          </p:cNvPr>
          <p:cNvSpPr/>
          <p:nvPr/>
        </p:nvSpPr>
        <p:spPr>
          <a:xfrm>
            <a:off x="621792" y="109728"/>
            <a:ext cx="749808" cy="210312"/>
          </a:xfrm>
          <a:prstGeom prst="parallelogram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>
            <a:extLst>
              <a:ext uri="{FF2B5EF4-FFF2-40B4-BE49-F238E27FC236}">
                <a16:creationId xmlns:a16="http://schemas.microsoft.com/office/drawing/2014/main" id="{4E2B4066-42E8-6B47-2840-461A57ACF933}"/>
              </a:ext>
            </a:extLst>
          </p:cNvPr>
          <p:cNvCxnSpPr/>
          <p:nvPr/>
        </p:nvCxnSpPr>
        <p:spPr>
          <a:xfrm>
            <a:off x="1389888" y="214884"/>
            <a:ext cx="10451592" cy="0"/>
          </a:xfrm>
          <a:prstGeom prst="line">
            <a:avLst/>
          </a:prstGeom>
          <a:ln w="1270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_ecnu_seal.png">
            <a:extLst>
              <a:ext uri="{FF2B5EF4-FFF2-40B4-BE49-F238E27FC236}">
                <a16:creationId xmlns:a16="http://schemas.microsoft.com/office/drawing/2014/main" id="{5F5550C1-13E2-5AC4-23D0-4F5CE8617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56616"/>
            <a:ext cx="431074" cy="4389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A11D7F-E991-5AE0-0A87-0E79A23B2E2B}"/>
              </a:ext>
            </a:extLst>
          </p:cNvPr>
          <p:cNvSpPr txBox="1"/>
          <p:nvPr/>
        </p:nvSpPr>
        <p:spPr>
          <a:xfrm>
            <a:off x="841248" y="384048"/>
            <a:ext cx="81381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43140"/>
                </a:solidFill>
                <a:latin typeface="微软雅黑" panose="020B0503020204020204" charset="-122"/>
              </a:rPr>
              <a:t>主动决策与清单生成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ED07D8-BF2D-DAD1-2FAE-0E0FD52EAA07}"/>
              </a:ext>
            </a:extLst>
          </p:cNvPr>
          <p:cNvSpPr txBox="1"/>
          <p:nvPr/>
        </p:nvSpPr>
        <p:spPr>
          <a:xfrm>
            <a:off x="9144000" y="420624"/>
            <a:ext cx="23317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77079"/>
                </a:solidFill>
                <a:latin typeface="微软雅黑" panose="020B0503020204020204" charset="-122"/>
              </a:rPr>
              <a:t>02  系统方案</a:t>
            </a:r>
          </a:p>
        </p:txBody>
      </p:sp>
      <p:cxnSp>
        <p:nvCxnSpPr>
          <p:cNvPr id="12" name="Connector 11">
            <a:extLst>
              <a:ext uri="{FF2B5EF4-FFF2-40B4-BE49-F238E27FC236}">
                <a16:creationId xmlns:a16="http://schemas.microsoft.com/office/drawing/2014/main" id="{5F59C188-86D1-F882-94E2-065029E33367}"/>
              </a:ext>
            </a:extLst>
          </p:cNvPr>
          <p:cNvCxnSpPr/>
          <p:nvPr/>
        </p:nvCxnSpPr>
        <p:spPr>
          <a:xfrm>
            <a:off x="841248" y="859536"/>
            <a:ext cx="11000232" cy="0"/>
          </a:xfrm>
          <a:prstGeom prst="line">
            <a:avLst/>
          </a:prstGeom>
          <a:ln w="889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167856A-AF1B-C7CE-FE59-D92F6E94779F}"/>
              </a:ext>
            </a:extLst>
          </p:cNvPr>
          <p:cNvSpPr txBox="1"/>
          <p:nvPr/>
        </p:nvSpPr>
        <p:spPr>
          <a:xfrm>
            <a:off x="11475720" y="6492240"/>
            <a:ext cx="3200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677079"/>
                </a:solidFill>
                <a:latin typeface="微软雅黑" panose="020B0503020204020204" charset="-122"/>
              </a:rPr>
              <a:t>06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586304-C80F-FFF4-FECC-3630F1CC70AA}"/>
              </a:ext>
            </a:extLst>
          </p:cNvPr>
          <p:cNvSpPr txBox="1"/>
          <p:nvPr/>
        </p:nvSpPr>
        <p:spPr>
          <a:xfrm>
            <a:off x="320040" y="6492240"/>
            <a:ext cx="2331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677079"/>
                </a:solidFill>
                <a:latin typeface="微软雅黑" panose="020B0503020204020204" charset="-122"/>
              </a:rPr>
              <a:t>EAST CHINA NORMAL UNIVERSITY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986509-CFC8-B59D-DB7E-A8D2E63EF46C}"/>
              </a:ext>
            </a:extLst>
          </p:cNvPr>
          <p:cNvSpPr txBox="1"/>
          <p:nvPr/>
        </p:nvSpPr>
        <p:spPr>
          <a:xfrm>
            <a:off x="868680" y="1060704"/>
            <a:ext cx="102412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77079"/>
                </a:solidFill>
                <a:latin typeface="微软雅黑" panose="020B0503020204020204" charset="-122"/>
              </a:rPr>
              <a:t>系统给出有依据的建议，最终选择仍由用户确认。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29437714-811F-FD08-5631-63BE7BA87180}"/>
              </a:ext>
            </a:extLst>
          </p:cNvPr>
          <p:cNvSpPr/>
          <p:nvPr/>
        </p:nvSpPr>
        <p:spPr>
          <a:xfrm>
            <a:off x="896112" y="1600200"/>
            <a:ext cx="33375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C36CDA2-72A0-5258-3B09-495B960AD782}"/>
              </a:ext>
            </a:extLst>
          </p:cNvPr>
          <p:cNvSpPr/>
          <p:nvPr/>
        </p:nvSpPr>
        <p:spPr>
          <a:xfrm>
            <a:off x="896112" y="1600200"/>
            <a:ext cx="1024128" cy="621792"/>
          </a:xfrm>
          <a:prstGeom prst="round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7DD3AB-71E9-7D1E-B83D-0D367CFF44F1}"/>
              </a:ext>
            </a:extLst>
          </p:cNvPr>
          <p:cNvSpPr txBox="1"/>
          <p:nvPr/>
        </p:nvSpPr>
        <p:spPr>
          <a:xfrm>
            <a:off x="969264" y="1783080"/>
            <a:ext cx="877824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用户清单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91F24D-DB07-6161-4C5C-B63EE7754D0A}"/>
              </a:ext>
            </a:extLst>
          </p:cNvPr>
          <p:cNvSpPr txBox="1"/>
          <p:nvPr/>
        </p:nvSpPr>
        <p:spPr>
          <a:xfrm>
            <a:off x="2084831" y="1773936"/>
            <a:ext cx="19385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30373F"/>
                </a:solidFill>
                <a:latin typeface="微软雅黑" panose="020B0503020204020204" charset="-122"/>
              </a:rPr>
              <a:t>钥匙、钱包、耳机</a:t>
            </a:r>
          </a:p>
        </p:txBody>
      </p:sp>
      <p:cxnSp>
        <p:nvCxnSpPr>
          <p:cNvPr id="20" name="Connector 19">
            <a:extLst>
              <a:ext uri="{FF2B5EF4-FFF2-40B4-BE49-F238E27FC236}">
                <a16:creationId xmlns:a16="http://schemas.microsoft.com/office/drawing/2014/main" id="{1D2A2221-7E6F-0984-9818-2A3ED910EFA0}"/>
              </a:ext>
            </a:extLst>
          </p:cNvPr>
          <p:cNvCxnSpPr/>
          <p:nvPr/>
        </p:nvCxnSpPr>
        <p:spPr>
          <a:xfrm>
            <a:off x="4297680" y="1911095"/>
            <a:ext cx="594360" cy="0"/>
          </a:xfrm>
          <a:prstGeom prst="line">
            <a:avLst/>
          </a:prstGeom>
          <a:ln w="254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0B30E8E-006E-4B63-8027-87E22E773B85}"/>
              </a:ext>
            </a:extLst>
          </p:cNvPr>
          <p:cNvSpPr/>
          <p:nvPr/>
        </p:nvSpPr>
        <p:spPr>
          <a:xfrm>
            <a:off x="896112" y="2468880"/>
            <a:ext cx="33375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5CAFBEF3-156A-46D4-ED38-7426DBEB278F}"/>
              </a:ext>
            </a:extLst>
          </p:cNvPr>
          <p:cNvSpPr/>
          <p:nvPr/>
        </p:nvSpPr>
        <p:spPr>
          <a:xfrm>
            <a:off x="896112" y="2468880"/>
            <a:ext cx="1024128" cy="621792"/>
          </a:xfrm>
          <a:prstGeom prst="round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A2403A-5F7B-C978-8014-0002C8AD8148}"/>
              </a:ext>
            </a:extLst>
          </p:cNvPr>
          <p:cNvSpPr txBox="1"/>
          <p:nvPr/>
        </p:nvSpPr>
        <p:spPr>
          <a:xfrm>
            <a:off x="969264" y="2651760"/>
            <a:ext cx="877824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天气信息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5BC951-8427-2BB4-CE9E-749AA29B56E2}"/>
              </a:ext>
            </a:extLst>
          </p:cNvPr>
          <p:cNvSpPr txBox="1"/>
          <p:nvPr/>
        </p:nvSpPr>
        <p:spPr>
          <a:xfrm>
            <a:off x="2084831" y="2642616"/>
            <a:ext cx="19385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30373F"/>
                </a:solidFill>
                <a:latin typeface="微软雅黑" panose="020B0503020204020204" charset="-122"/>
              </a:rPr>
              <a:t>下雨 → 雨伞</a:t>
            </a:r>
          </a:p>
        </p:txBody>
      </p: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2F409A5C-625B-8A43-0D43-29D05C6851C8}"/>
              </a:ext>
            </a:extLst>
          </p:cNvPr>
          <p:cNvCxnSpPr/>
          <p:nvPr/>
        </p:nvCxnSpPr>
        <p:spPr>
          <a:xfrm>
            <a:off x="4297680" y="2779776"/>
            <a:ext cx="594360" cy="0"/>
          </a:xfrm>
          <a:prstGeom prst="line">
            <a:avLst/>
          </a:prstGeom>
          <a:ln w="254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A180460-DC3B-B051-3A97-BEED982474A1}"/>
              </a:ext>
            </a:extLst>
          </p:cNvPr>
          <p:cNvSpPr/>
          <p:nvPr/>
        </p:nvSpPr>
        <p:spPr>
          <a:xfrm>
            <a:off x="896112" y="3337560"/>
            <a:ext cx="33375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70956118-69C5-0E22-76AC-3EE56BD0DA14}"/>
              </a:ext>
            </a:extLst>
          </p:cNvPr>
          <p:cNvSpPr/>
          <p:nvPr/>
        </p:nvSpPr>
        <p:spPr>
          <a:xfrm>
            <a:off x="896112" y="3337560"/>
            <a:ext cx="1024128" cy="621792"/>
          </a:xfrm>
          <a:prstGeom prst="round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31C648-92A0-98B8-DBD8-15919923829B}"/>
              </a:ext>
            </a:extLst>
          </p:cNvPr>
          <p:cNvSpPr txBox="1"/>
          <p:nvPr/>
        </p:nvSpPr>
        <p:spPr>
          <a:xfrm>
            <a:off x="969264" y="3520440"/>
            <a:ext cx="877824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微软雅黑" panose="020B0503020204020204" charset="-122"/>
              </a:rPr>
              <a:t>日程信息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03BB3B-5947-922D-D6DA-31C3989158C3}"/>
              </a:ext>
            </a:extLst>
          </p:cNvPr>
          <p:cNvSpPr txBox="1"/>
          <p:nvPr/>
        </p:nvSpPr>
        <p:spPr>
          <a:xfrm>
            <a:off x="2084831" y="3511296"/>
            <a:ext cx="19385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30373F"/>
                </a:solidFill>
                <a:latin typeface="微软雅黑" panose="020B0503020204020204" charset="-122"/>
              </a:rPr>
              <a:t>会议 → 电脑、文件夹、证件</a:t>
            </a:r>
          </a:p>
        </p:txBody>
      </p:sp>
      <p:cxnSp>
        <p:nvCxnSpPr>
          <p:cNvPr id="30" name="Connector 29">
            <a:extLst>
              <a:ext uri="{FF2B5EF4-FFF2-40B4-BE49-F238E27FC236}">
                <a16:creationId xmlns:a16="http://schemas.microsoft.com/office/drawing/2014/main" id="{2921937B-168D-E8F6-9387-9516D8E2B54E}"/>
              </a:ext>
            </a:extLst>
          </p:cNvPr>
          <p:cNvCxnSpPr/>
          <p:nvPr/>
        </p:nvCxnSpPr>
        <p:spPr>
          <a:xfrm>
            <a:off x="4297680" y="3648456"/>
            <a:ext cx="594360" cy="0"/>
          </a:xfrm>
          <a:prstGeom prst="line">
            <a:avLst/>
          </a:prstGeom>
          <a:ln w="254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E4BEF88D-631D-5108-4C1C-49689C43E183}"/>
              </a:ext>
            </a:extLst>
          </p:cNvPr>
          <p:cNvSpPr/>
          <p:nvPr/>
        </p:nvSpPr>
        <p:spPr>
          <a:xfrm>
            <a:off x="896112" y="4206240"/>
            <a:ext cx="33375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FAFE13B7-8ABF-BB7B-C3D9-F04FE36779BB}"/>
              </a:ext>
            </a:extLst>
          </p:cNvPr>
          <p:cNvSpPr/>
          <p:nvPr/>
        </p:nvSpPr>
        <p:spPr>
          <a:xfrm>
            <a:off x="896112" y="4206240"/>
            <a:ext cx="1024128" cy="621792"/>
          </a:xfrm>
          <a:prstGeom prst="round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26468B-F758-04C0-DE90-621FAD903433}"/>
              </a:ext>
            </a:extLst>
          </p:cNvPr>
          <p:cNvSpPr txBox="1"/>
          <p:nvPr/>
        </p:nvSpPr>
        <p:spPr>
          <a:xfrm>
            <a:off x="969264" y="4389120"/>
            <a:ext cx="877824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习惯信息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0FAD8F-481C-1A01-B2A8-A04D33B9264C}"/>
              </a:ext>
            </a:extLst>
          </p:cNvPr>
          <p:cNvSpPr txBox="1"/>
          <p:nvPr/>
        </p:nvSpPr>
        <p:spPr>
          <a:xfrm>
            <a:off x="2084831" y="4379976"/>
            <a:ext cx="1938528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30373F"/>
                </a:solidFill>
                <a:latin typeface="微软雅黑" panose="020B0503020204020204" charset="-122"/>
              </a:rPr>
              <a:t>上班常带 → 手机</a:t>
            </a:r>
          </a:p>
        </p:txBody>
      </p:sp>
      <p:cxnSp>
        <p:nvCxnSpPr>
          <p:cNvPr id="35" name="Connector 34">
            <a:extLst>
              <a:ext uri="{FF2B5EF4-FFF2-40B4-BE49-F238E27FC236}">
                <a16:creationId xmlns:a16="http://schemas.microsoft.com/office/drawing/2014/main" id="{C49EFA03-DEE6-9744-B61F-47AF62C85E1E}"/>
              </a:ext>
            </a:extLst>
          </p:cNvPr>
          <p:cNvCxnSpPr/>
          <p:nvPr/>
        </p:nvCxnSpPr>
        <p:spPr>
          <a:xfrm>
            <a:off x="4297680" y="4517136"/>
            <a:ext cx="594360" cy="0"/>
          </a:xfrm>
          <a:prstGeom prst="line">
            <a:avLst/>
          </a:prstGeom>
          <a:ln w="254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83D74A23-4D08-249C-4C2B-822CDB0D54A6}"/>
              </a:ext>
            </a:extLst>
          </p:cNvPr>
          <p:cNvSpPr/>
          <p:nvPr/>
        </p:nvSpPr>
        <p:spPr>
          <a:xfrm>
            <a:off x="5010912" y="1874519"/>
            <a:ext cx="2468880" cy="2331720"/>
          </a:xfrm>
          <a:prstGeom prst="round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DEACB65-5950-B632-698A-7B65C5E20763}"/>
              </a:ext>
            </a:extLst>
          </p:cNvPr>
          <p:cNvSpPr txBox="1"/>
          <p:nvPr/>
        </p:nvSpPr>
        <p:spPr>
          <a:xfrm>
            <a:off x="5340096" y="2148840"/>
            <a:ext cx="18288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100" b="1">
                <a:solidFill>
                  <a:srgbClr val="FFC200"/>
                </a:solidFill>
                <a:latin typeface="微软雅黑" panose="020B0503020204020204" charset="-122"/>
              </a:rPr>
              <a:t>规则判断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97B4811D-F63F-4FC0-8CB1-97441FDE02AC}"/>
              </a:ext>
            </a:extLst>
          </p:cNvPr>
          <p:cNvSpPr/>
          <p:nvPr/>
        </p:nvSpPr>
        <p:spPr>
          <a:xfrm>
            <a:off x="5394960" y="2724912"/>
            <a:ext cx="1700784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BE49461-A8E9-42B6-D9D3-0D06AC711A4F}"/>
              </a:ext>
            </a:extLst>
          </p:cNvPr>
          <p:cNvSpPr txBox="1"/>
          <p:nvPr/>
        </p:nvSpPr>
        <p:spPr>
          <a:xfrm>
            <a:off x="5394960" y="2788920"/>
            <a:ext cx="1700784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标准化与去重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39B809B-F17F-F57A-941C-88BB769CC0BE}"/>
              </a:ext>
            </a:extLst>
          </p:cNvPr>
          <p:cNvSpPr/>
          <p:nvPr/>
        </p:nvSpPr>
        <p:spPr>
          <a:xfrm>
            <a:off x="5394960" y="3163824"/>
            <a:ext cx="1700784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782B0A-E545-1FC1-F107-1B7411B4EBDF}"/>
              </a:ext>
            </a:extLst>
          </p:cNvPr>
          <p:cNvSpPr txBox="1"/>
          <p:nvPr/>
        </p:nvSpPr>
        <p:spPr>
          <a:xfrm>
            <a:off x="5394960" y="3227832"/>
            <a:ext cx="1700784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触发条件匹配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87A17ADC-A277-A84D-B06D-6442D9F9F92B}"/>
              </a:ext>
            </a:extLst>
          </p:cNvPr>
          <p:cNvSpPr/>
          <p:nvPr/>
        </p:nvSpPr>
        <p:spPr>
          <a:xfrm>
            <a:off x="5394960" y="3602736"/>
            <a:ext cx="1700784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CEEA2A6-BEE7-3B4A-AFEF-3A37A5B91831}"/>
              </a:ext>
            </a:extLst>
          </p:cNvPr>
          <p:cNvSpPr txBox="1"/>
          <p:nvPr/>
        </p:nvSpPr>
        <p:spPr>
          <a:xfrm>
            <a:off x="5394960" y="3666744"/>
            <a:ext cx="1700784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建议理由生成</a:t>
            </a:r>
          </a:p>
        </p:txBody>
      </p:sp>
      <p:cxnSp>
        <p:nvCxnSpPr>
          <p:cNvPr id="44" name="Connector 43">
            <a:extLst>
              <a:ext uri="{FF2B5EF4-FFF2-40B4-BE49-F238E27FC236}">
                <a16:creationId xmlns:a16="http://schemas.microsoft.com/office/drawing/2014/main" id="{A1EF6862-B59C-D898-A701-B36C1D1259D4}"/>
              </a:ext>
            </a:extLst>
          </p:cNvPr>
          <p:cNvCxnSpPr/>
          <p:nvPr/>
        </p:nvCxnSpPr>
        <p:spPr>
          <a:xfrm>
            <a:off x="7607808" y="3035808"/>
            <a:ext cx="640080" cy="0"/>
          </a:xfrm>
          <a:prstGeom prst="line">
            <a:avLst/>
          </a:prstGeom>
          <a:ln w="38100">
            <a:solidFill>
              <a:srgbClr val="FFC2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DC2A0D41-61B9-D33D-990B-0BA0C60F0D47}"/>
              </a:ext>
            </a:extLst>
          </p:cNvPr>
          <p:cNvSpPr/>
          <p:nvPr/>
        </p:nvSpPr>
        <p:spPr>
          <a:xfrm>
            <a:off x="8366760" y="1874519"/>
            <a:ext cx="2788920" cy="2331720"/>
          </a:xfrm>
          <a:prstGeom prst="round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BFEA720-FBE0-F6AE-EC10-04A8A83E2F4B}"/>
              </a:ext>
            </a:extLst>
          </p:cNvPr>
          <p:cNvSpPr txBox="1"/>
          <p:nvPr/>
        </p:nvSpPr>
        <p:spPr>
          <a:xfrm>
            <a:off x="8732520" y="2139696"/>
            <a:ext cx="20574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100" b="1">
                <a:solidFill>
                  <a:srgbClr val="243140"/>
                </a:solidFill>
                <a:latin typeface="微软雅黑" panose="020B0503020204020204" charset="-122"/>
              </a:rPr>
              <a:t>最终清单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E53E01FB-0C2D-9147-59B9-39D05ECBE2B1}"/>
              </a:ext>
            </a:extLst>
          </p:cNvPr>
          <p:cNvSpPr/>
          <p:nvPr/>
        </p:nvSpPr>
        <p:spPr>
          <a:xfrm>
            <a:off x="8686800" y="2788920"/>
            <a:ext cx="612648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86B80CA-253D-06CA-1510-C46509D92B4C}"/>
              </a:ext>
            </a:extLst>
          </p:cNvPr>
          <p:cNvSpPr txBox="1"/>
          <p:nvPr/>
        </p:nvSpPr>
        <p:spPr>
          <a:xfrm>
            <a:off x="8686800" y="2852927"/>
            <a:ext cx="612648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钥匙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8424E4A-1380-0519-3CA1-A8B9EB14617B}"/>
              </a:ext>
            </a:extLst>
          </p:cNvPr>
          <p:cNvSpPr/>
          <p:nvPr/>
        </p:nvSpPr>
        <p:spPr>
          <a:xfrm>
            <a:off x="9436608" y="2788920"/>
            <a:ext cx="612648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48C5D2-ADDE-48DF-D969-6F327ACAE04F}"/>
              </a:ext>
            </a:extLst>
          </p:cNvPr>
          <p:cNvSpPr txBox="1"/>
          <p:nvPr/>
        </p:nvSpPr>
        <p:spPr>
          <a:xfrm>
            <a:off x="9436608" y="2852927"/>
            <a:ext cx="612648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钱包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3CFCE91F-C487-69E8-C96B-E588BB02F80D}"/>
              </a:ext>
            </a:extLst>
          </p:cNvPr>
          <p:cNvSpPr/>
          <p:nvPr/>
        </p:nvSpPr>
        <p:spPr>
          <a:xfrm>
            <a:off x="10186416" y="2788920"/>
            <a:ext cx="612648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49B4B82-0327-D12C-1A78-BA9B58F4EAFD}"/>
              </a:ext>
            </a:extLst>
          </p:cNvPr>
          <p:cNvSpPr txBox="1"/>
          <p:nvPr/>
        </p:nvSpPr>
        <p:spPr>
          <a:xfrm>
            <a:off x="10186416" y="2852927"/>
            <a:ext cx="612648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耳机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B974A957-F5B3-302C-7359-98D72C84F6BF}"/>
              </a:ext>
            </a:extLst>
          </p:cNvPr>
          <p:cNvSpPr/>
          <p:nvPr/>
        </p:nvSpPr>
        <p:spPr>
          <a:xfrm>
            <a:off x="8686800" y="3282696"/>
            <a:ext cx="612648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92E67F9-0B70-8EF3-8A9D-426EFF6E414E}"/>
              </a:ext>
            </a:extLst>
          </p:cNvPr>
          <p:cNvSpPr txBox="1"/>
          <p:nvPr/>
        </p:nvSpPr>
        <p:spPr>
          <a:xfrm>
            <a:off x="8686800" y="3346703"/>
            <a:ext cx="612648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雨伞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760F5F4E-E6A5-BD08-A4AE-CE42C4C7F36E}"/>
              </a:ext>
            </a:extLst>
          </p:cNvPr>
          <p:cNvSpPr/>
          <p:nvPr/>
        </p:nvSpPr>
        <p:spPr>
          <a:xfrm>
            <a:off x="9436608" y="3282696"/>
            <a:ext cx="612648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6C79E10-B18D-5988-A2EE-3210CD946FBF}"/>
              </a:ext>
            </a:extLst>
          </p:cNvPr>
          <p:cNvSpPr txBox="1"/>
          <p:nvPr/>
        </p:nvSpPr>
        <p:spPr>
          <a:xfrm>
            <a:off x="9436608" y="3346703"/>
            <a:ext cx="612648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手机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B4E68992-BB0F-CE1C-2CDF-E02A53833D2B}"/>
              </a:ext>
            </a:extLst>
          </p:cNvPr>
          <p:cNvSpPr/>
          <p:nvPr/>
        </p:nvSpPr>
        <p:spPr>
          <a:xfrm>
            <a:off x="896112" y="5047488"/>
            <a:ext cx="333756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11AA5C07-38E5-B92D-A176-88BA55670EAF}"/>
              </a:ext>
            </a:extLst>
          </p:cNvPr>
          <p:cNvSpPr/>
          <p:nvPr/>
        </p:nvSpPr>
        <p:spPr>
          <a:xfrm>
            <a:off x="896112" y="5047488"/>
            <a:ext cx="109728" cy="859536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942FA6B-52F8-5D3E-C06C-8D9A7163C033}"/>
              </a:ext>
            </a:extLst>
          </p:cNvPr>
          <p:cNvSpPr txBox="1"/>
          <p:nvPr/>
        </p:nvSpPr>
        <p:spPr>
          <a:xfrm>
            <a:off x="1152144" y="5230368"/>
            <a:ext cx="292607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43140"/>
                </a:solidFill>
                <a:latin typeface="微软雅黑" panose="020B0503020204020204" charset="-122"/>
              </a:rPr>
              <a:t>交通信息的作用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140993E-6765-C109-E9C0-02D7C0A6C463}"/>
              </a:ext>
            </a:extLst>
          </p:cNvPr>
          <p:cNvSpPr txBox="1"/>
          <p:nvPr/>
        </p:nvSpPr>
        <p:spPr>
          <a:xfrm>
            <a:off x="1152144" y="5504561"/>
            <a:ext cx="1828800" cy="405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77079"/>
                </a:solidFill>
                <a:latin typeface="微软雅黑" panose="020B0503020204020204" charset="-122"/>
              </a:rPr>
              <a:t>交通拥堵只生成时间提醒，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677079"/>
                </a:solidFill>
                <a:latin typeface="微软雅黑" panose="020B0503020204020204" charset="-122"/>
              </a:rPr>
              <a:t>不直接改变物品清单。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4371ABC4-1F98-7821-C34B-5B1A24196695}"/>
              </a:ext>
            </a:extLst>
          </p:cNvPr>
          <p:cNvSpPr/>
          <p:nvPr/>
        </p:nvSpPr>
        <p:spPr>
          <a:xfrm>
            <a:off x="4434840" y="5047488"/>
            <a:ext cx="3337560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DC04A82-C737-2404-8FFC-2C5AD014ECC4}"/>
              </a:ext>
            </a:extLst>
          </p:cNvPr>
          <p:cNvSpPr/>
          <p:nvPr/>
        </p:nvSpPr>
        <p:spPr>
          <a:xfrm>
            <a:off x="4434840" y="5047488"/>
            <a:ext cx="109728" cy="859536"/>
          </a:xfrm>
          <a:prstGeom prst="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8A22C7F-7195-24C3-A02B-476CE146B77F}"/>
              </a:ext>
            </a:extLst>
          </p:cNvPr>
          <p:cNvSpPr txBox="1"/>
          <p:nvPr/>
        </p:nvSpPr>
        <p:spPr>
          <a:xfrm>
            <a:off x="4690872" y="5230368"/>
            <a:ext cx="2926079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43140"/>
                </a:solidFill>
                <a:latin typeface="微软雅黑" panose="020B0503020204020204" charset="-122"/>
              </a:rPr>
              <a:t>交互原则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950E2B9-9B14-D0FA-56EF-23788ADBDD32}"/>
              </a:ext>
            </a:extLst>
          </p:cNvPr>
          <p:cNvSpPr txBox="1"/>
          <p:nvPr/>
        </p:nvSpPr>
        <p:spPr>
          <a:xfrm>
            <a:off x="4690872" y="5501386"/>
            <a:ext cx="2310130" cy="405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77079"/>
                </a:solidFill>
                <a:latin typeface="微软雅黑" panose="020B0503020204020204" charset="-122"/>
              </a:rPr>
              <a:t>目标系统采用建议—确认—执行，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677079"/>
                </a:solidFill>
                <a:latin typeface="微软雅黑" panose="020B0503020204020204" charset="-122"/>
              </a:rPr>
              <a:t>避免机器人替用户擅自决定。</a:t>
            </a: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A63CC509-36B8-7F3D-89F0-45005AA9F0D6}"/>
              </a:ext>
            </a:extLst>
          </p:cNvPr>
          <p:cNvSpPr/>
          <p:nvPr/>
        </p:nvSpPr>
        <p:spPr>
          <a:xfrm>
            <a:off x="7973568" y="5047488"/>
            <a:ext cx="3182112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3DD98DA0-CCC5-5368-A26B-939F9A463F51}"/>
              </a:ext>
            </a:extLst>
          </p:cNvPr>
          <p:cNvSpPr/>
          <p:nvPr/>
        </p:nvSpPr>
        <p:spPr>
          <a:xfrm>
            <a:off x="7973568" y="5047488"/>
            <a:ext cx="109728" cy="859536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1B5C97D-82D8-8C2A-81EE-2DD929219D96}"/>
              </a:ext>
            </a:extLst>
          </p:cNvPr>
          <p:cNvSpPr txBox="1"/>
          <p:nvPr/>
        </p:nvSpPr>
        <p:spPr>
          <a:xfrm>
            <a:off x="8229600" y="5230368"/>
            <a:ext cx="2770632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43140"/>
                </a:solidFill>
                <a:latin typeface="微软雅黑" panose="020B0503020204020204" charset="-122"/>
              </a:rPr>
              <a:t>解释方式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1707378-7E91-5416-7899-3F1239A83E09}"/>
              </a:ext>
            </a:extLst>
          </p:cNvPr>
          <p:cNvSpPr txBox="1"/>
          <p:nvPr/>
        </p:nvSpPr>
        <p:spPr>
          <a:xfrm>
            <a:off x="8229600" y="5501386"/>
            <a:ext cx="2133600" cy="405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77079"/>
                </a:solidFill>
                <a:latin typeface="微软雅黑" panose="020B0503020204020204" charset="-122"/>
              </a:rPr>
              <a:t>每个新增物品都显示触发来源，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677079"/>
                </a:solidFill>
                <a:latin typeface="微软雅黑" panose="020B0503020204020204" charset="-122"/>
              </a:rPr>
              <a:t>便于用户判断建议是否合理。</a:t>
            </a:r>
          </a:p>
        </p:txBody>
      </p:sp>
    </p:spTree>
    <p:extLst>
      <p:ext uri="{BB962C8B-B14F-4D97-AF65-F5344CB8AC3E}">
        <p14:creationId xmlns:p14="http://schemas.microsoft.com/office/powerpoint/2010/main" val="4195007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201168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283464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365760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448056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530352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arallelogram 6"/>
          <p:cNvSpPr/>
          <p:nvPr/>
        </p:nvSpPr>
        <p:spPr>
          <a:xfrm>
            <a:off x="621792" y="109728"/>
            <a:ext cx="749808" cy="210312"/>
          </a:xfrm>
          <a:prstGeom prst="parallelogram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389888" y="214884"/>
            <a:ext cx="10451592" cy="0"/>
          </a:xfrm>
          <a:prstGeom prst="line">
            <a:avLst/>
          </a:prstGeom>
          <a:ln w="1270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_ecnu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56616"/>
            <a:ext cx="431074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384048"/>
            <a:ext cx="81381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43140"/>
                </a:solidFill>
                <a:latin typeface="微软雅黑" panose="020B0503020204020204" charset="-122"/>
              </a:rPr>
              <a:t>多模态识别与位置预测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20624"/>
            <a:ext cx="23317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77079"/>
                </a:solidFill>
                <a:latin typeface="微软雅黑" panose="020B0503020204020204" charset="-122"/>
              </a:rPr>
              <a:t>02  系统方案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" y="859536"/>
            <a:ext cx="11000232" cy="0"/>
          </a:xfrm>
          <a:prstGeom prst="line">
            <a:avLst/>
          </a:prstGeom>
          <a:ln w="889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75720" y="6492240"/>
            <a:ext cx="3200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677079"/>
                </a:solidFill>
                <a:latin typeface="微软雅黑" panose="020B0503020204020204" charset="-122"/>
              </a:rPr>
              <a:t>07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492240"/>
            <a:ext cx="2331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677079"/>
                </a:solidFill>
                <a:latin typeface="微软雅黑" panose="020B0503020204020204" charset="-122"/>
              </a:rPr>
              <a:t>EAST CHINA NORMAL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060704"/>
            <a:ext cx="102412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77079"/>
                </a:solidFill>
                <a:latin typeface="微软雅黑" panose="020B0503020204020204" charset="-122"/>
              </a:rPr>
              <a:t>三类信息分别回答“是什么、是不是、在哪里”。</a:t>
            </a:r>
          </a:p>
        </p:txBody>
      </p:sp>
      <p:sp>
        <p:nvSpPr>
          <p:cNvPr id="16" name="Oval 15"/>
          <p:cNvSpPr/>
          <p:nvPr/>
        </p:nvSpPr>
        <p:spPr>
          <a:xfrm>
            <a:off x="1307592" y="1792224"/>
            <a:ext cx="1499616" cy="1499616"/>
          </a:xfrm>
          <a:prstGeom prst="ellipse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417320" y="2286000"/>
            <a:ext cx="128016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243140"/>
                </a:solidFill>
                <a:latin typeface="微软雅黑" panose="020B0503020204020204" charset="-122"/>
              </a:rPr>
              <a:t>视觉识别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5607" y="2670048"/>
            <a:ext cx="1243584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243140"/>
                </a:solidFill>
                <a:latin typeface="微软雅黑" panose="020B0503020204020204" charset="-122"/>
              </a:rPr>
              <a:t>这是什么？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456432"/>
            <a:ext cx="192024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677079"/>
                </a:solidFill>
                <a:latin typeface="微软雅黑" panose="020B0503020204020204" charset="-122"/>
              </a:rPr>
              <a:t>物品类别、图像位置与深度信息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62072" y="2542032"/>
            <a:ext cx="6281928" cy="246888"/>
          </a:xfrm>
          <a:prstGeom prst="line">
            <a:avLst/>
          </a:prstGeom>
          <a:ln w="1778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4005072" y="1792224"/>
            <a:ext cx="1499616" cy="1499616"/>
          </a:xfrm>
          <a:prstGeom prst="ellipse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114800" y="2286000"/>
            <a:ext cx="128016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电子标签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33088" y="2670048"/>
            <a:ext cx="1243584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微软雅黑" panose="020B0503020204020204" charset="-122"/>
              </a:rPr>
              <a:t>是不是目标？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456432"/>
            <a:ext cx="192024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677079"/>
                </a:solidFill>
                <a:latin typeface="微软雅黑" panose="020B0503020204020204" charset="-122"/>
              </a:rPr>
              <a:t>对重要物品进行身份辅助确认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559552" y="2542032"/>
            <a:ext cx="3584448" cy="246888"/>
          </a:xfrm>
          <a:prstGeom prst="line">
            <a:avLst/>
          </a:prstGeom>
          <a:ln w="1778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702552" y="1792224"/>
            <a:ext cx="1499616" cy="1499616"/>
          </a:xfrm>
          <a:prstGeom prst="ellipse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12280" y="2286000"/>
            <a:ext cx="128016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243140"/>
                </a:solidFill>
                <a:latin typeface="微软雅黑" panose="020B0503020204020204" charset="-122"/>
              </a:rPr>
              <a:t>习惯信息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2670048"/>
            <a:ext cx="1243584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243140"/>
                </a:solidFill>
                <a:latin typeface="微软雅黑" panose="020B0503020204020204" charset="-122"/>
              </a:rPr>
              <a:t>最可能在哪里？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456432"/>
            <a:ext cx="192024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>
                <a:solidFill>
                  <a:srgbClr val="677079"/>
                </a:solidFill>
                <a:latin typeface="微软雅黑" panose="020B0503020204020204" charset="-122"/>
              </a:rPr>
              <a:t>按照历史位置排列搜索区域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57032" y="2542032"/>
            <a:ext cx="886968" cy="246888"/>
          </a:xfrm>
          <a:prstGeom prst="line">
            <a:avLst/>
          </a:prstGeom>
          <a:ln w="1778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144000" y="1993392"/>
            <a:ext cx="1572768" cy="1572768"/>
          </a:xfrm>
          <a:prstGeom prst="ellipse">
            <a:avLst/>
          </a:prstGeom>
          <a:solidFill>
            <a:srgbClr val="243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308592" y="2450592"/>
            <a:ext cx="1243584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目标可信度
判断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2688" y="4681728"/>
            <a:ext cx="31546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32688" y="4681728"/>
            <a:ext cx="128016" cy="914400"/>
          </a:xfrm>
          <a:prstGeom prst="rect">
            <a:avLst/>
          </a:prstGeom>
          <a:solidFill>
            <a:srgbClr val="3784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07008" y="4846320"/>
            <a:ext cx="914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43140"/>
                </a:solidFill>
                <a:latin typeface="微软雅黑" panose="020B0503020204020204" charset="-122"/>
              </a:rPr>
              <a:t>信息一致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07008" y="5184648"/>
            <a:ext cx="257860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77079"/>
                </a:solidFill>
                <a:latin typeface="微软雅黑" panose="020B0503020204020204" charset="-122"/>
              </a:rPr>
              <a:t>确认目标，进入抓取规划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89120" y="4681728"/>
            <a:ext cx="31546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389120" y="4681728"/>
            <a:ext cx="128016" cy="914400"/>
          </a:xfrm>
          <a:prstGeom prst="rect">
            <a:avLst/>
          </a:prstGeom>
          <a:solidFill>
            <a:srgbClr val="E0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63440" y="4846320"/>
            <a:ext cx="914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43140"/>
                </a:solidFill>
                <a:latin typeface="微软雅黑" panose="020B0503020204020204" charset="-122"/>
              </a:rPr>
              <a:t>信息冲突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5184648"/>
            <a:ext cx="257860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77079"/>
                </a:solidFill>
                <a:latin typeface="微软雅黑" panose="020B0503020204020204" charset="-122"/>
              </a:rPr>
              <a:t>暂停抓取，继续观察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45552" y="4681728"/>
            <a:ext cx="31546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7845552" y="4681728"/>
            <a:ext cx="128016" cy="914400"/>
          </a:xfrm>
          <a:prstGeom prst="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119872" y="4846320"/>
            <a:ext cx="9144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243140"/>
                </a:solidFill>
                <a:latin typeface="微软雅黑" panose="020B0503020204020204" charset="-122"/>
              </a:rPr>
              <a:t>均不确定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19872" y="5184648"/>
            <a:ext cx="2578608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77079"/>
                </a:solidFill>
                <a:latin typeface="微软雅黑" panose="020B0503020204020204" charset="-122"/>
              </a:rPr>
              <a:t>换区域或询问用户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0976" y="5925312"/>
            <a:ext cx="9784080" cy="2926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30373F"/>
                </a:solidFill>
                <a:latin typeface="微软雅黑" panose="020B0503020204020204" charset="-122"/>
              </a:rPr>
              <a:t>示例：视觉识别出两个相似钱包时，可利用 BLE 标签确认属于当前用户的目标。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201168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283464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365760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448056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530352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arallelogram 6"/>
          <p:cNvSpPr/>
          <p:nvPr/>
        </p:nvSpPr>
        <p:spPr>
          <a:xfrm>
            <a:off x="621792" y="109728"/>
            <a:ext cx="749808" cy="210312"/>
          </a:xfrm>
          <a:prstGeom prst="parallelogram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389888" y="214884"/>
            <a:ext cx="10451592" cy="0"/>
          </a:xfrm>
          <a:prstGeom prst="line">
            <a:avLst/>
          </a:prstGeom>
          <a:ln w="1270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_ecnu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56616"/>
            <a:ext cx="431074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384048"/>
            <a:ext cx="81381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43140"/>
                </a:solidFill>
                <a:latin typeface="微软雅黑" panose="020B0503020204020204" charset="-122"/>
              </a:rPr>
              <a:t>搜索规划与机器人作业闭环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20624"/>
            <a:ext cx="23317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77079"/>
                </a:solidFill>
                <a:latin typeface="微软雅黑" panose="020B0503020204020204" charset="-122"/>
              </a:rPr>
              <a:t>03  机器人作业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" y="859536"/>
            <a:ext cx="11000232" cy="0"/>
          </a:xfrm>
          <a:prstGeom prst="line">
            <a:avLst/>
          </a:prstGeom>
          <a:ln w="889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75720" y="6492240"/>
            <a:ext cx="3200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677079"/>
                </a:solidFill>
                <a:latin typeface="微软雅黑" panose="020B0503020204020204" charset="-122"/>
              </a:rPr>
              <a:t>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492240"/>
            <a:ext cx="2331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677079"/>
                </a:solidFill>
                <a:latin typeface="微软雅黑" panose="020B0503020204020204" charset="-122"/>
              </a:rPr>
              <a:t>EAST CHINA NORMAL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060704"/>
            <a:ext cx="102412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77079"/>
                </a:solidFill>
                <a:latin typeface="微软雅黑" panose="020B0503020204020204" charset="-122"/>
              </a:rPr>
              <a:t>根据物品位置和任务优先级组织搜索，避免逐件盲目寻找。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1737360"/>
            <a:ext cx="17373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2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68096" y="1901951"/>
            <a:ext cx="292608" cy="292608"/>
          </a:xfrm>
          <a:prstGeom prst="ellipse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" y="1965960"/>
            <a:ext cx="29260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43140"/>
                </a:solidFill>
                <a:latin typeface="微软雅黑" panose="020B0503020204020204" charset="-122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1883664"/>
            <a:ext cx="1591056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读取物品信息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82112" y="1737360"/>
            <a:ext cx="17373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035808" y="1901951"/>
            <a:ext cx="292608" cy="292608"/>
          </a:xfrm>
          <a:prstGeom prst="ellipse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35808" y="1965960"/>
            <a:ext cx="29260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43140"/>
                </a:solidFill>
                <a:latin typeface="微软雅黑" panose="020B0503020204020204" charset="-122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55264" y="1883664"/>
            <a:ext cx="1591056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规划搜索顺序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49824" y="1737360"/>
            <a:ext cx="17373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2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303520" y="1901951"/>
            <a:ext cx="292608" cy="292608"/>
          </a:xfrm>
          <a:prstGeom prst="ellipse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303520" y="1965960"/>
            <a:ext cx="29260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43140"/>
                </a:solidFill>
                <a:latin typeface="微软雅黑" panose="020B0503020204020204" charset="-122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22976" y="1883664"/>
            <a:ext cx="1591056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导航至候选区域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17536" y="1737360"/>
            <a:ext cx="17373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7571231" y="1901951"/>
            <a:ext cx="292608" cy="292608"/>
          </a:xfrm>
          <a:prstGeom prst="ellipse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571231" y="1965960"/>
            <a:ext cx="29260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43140"/>
                </a:solidFill>
                <a:latin typeface="微软雅黑" panose="020B0503020204020204" charset="-122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90688" y="1883664"/>
            <a:ext cx="1591056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标签与视觉确认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17536" y="2880360"/>
            <a:ext cx="17373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2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571231" y="3044951"/>
            <a:ext cx="292608" cy="292608"/>
          </a:xfrm>
          <a:prstGeom prst="ellipse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571231" y="3108960"/>
            <a:ext cx="29260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43140"/>
                </a:solidFill>
                <a:latin typeface="微软雅黑" panose="020B0503020204020204" charset="-122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0688" y="3026664"/>
            <a:ext cx="1591056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选择抓取策略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49824" y="2880360"/>
            <a:ext cx="17373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5303520" y="3044951"/>
            <a:ext cx="292608" cy="292608"/>
          </a:xfrm>
          <a:prstGeom prst="ellipse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03520" y="3108960"/>
            <a:ext cx="29260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43140"/>
                </a:solidFill>
                <a:latin typeface="微软雅黑" panose="020B0503020204020204" charset="-122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22976" y="3026664"/>
            <a:ext cx="1591056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搬运至玄关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182112" y="2880360"/>
            <a:ext cx="17373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23F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035808" y="3044951"/>
            <a:ext cx="292608" cy="292608"/>
          </a:xfrm>
          <a:prstGeom prst="ellipse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035808" y="3108960"/>
            <a:ext cx="29260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43140"/>
                </a:solidFill>
                <a:latin typeface="微软雅黑" panose="020B0503020204020204" charset="-122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55264" y="3026664"/>
            <a:ext cx="1591056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放置并确认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2880360"/>
            <a:ext cx="17373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768096" y="3044951"/>
            <a:ext cx="292608" cy="292608"/>
          </a:xfrm>
          <a:prstGeom prst="ellipse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68096" y="3108960"/>
            <a:ext cx="29260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243140"/>
                </a:solidFill>
                <a:latin typeface="微软雅黑" panose="020B0503020204020204" charset="-122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" y="3026664"/>
            <a:ext cx="1591056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更新任务状态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670048" y="2048256"/>
            <a:ext cx="402336" cy="0"/>
          </a:xfrm>
          <a:prstGeom prst="line">
            <a:avLst/>
          </a:prstGeom>
          <a:ln w="1905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937760" y="2048256"/>
            <a:ext cx="402336" cy="0"/>
          </a:xfrm>
          <a:prstGeom prst="line">
            <a:avLst/>
          </a:prstGeom>
          <a:ln w="1905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7205472" y="2048256"/>
            <a:ext cx="402336" cy="0"/>
          </a:xfrm>
          <a:prstGeom prst="line">
            <a:avLst/>
          </a:prstGeom>
          <a:ln w="1905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577072" y="2377440"/>
            <a:ext cx="0" cy="429768"/>
          </a:xfrm>
          <a:prstGeom prst="line">
            <a:avLst/>
          </a:prstGeom>
          <a:ln w="1905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7205472" y="3191256"/>
            <a:ext cx="420624" cy="0"/>
          </a:xfrm>
          <a:prstGeom prst="line">
            <a:avLst/>
          </a:prstGeom>
          <a:ln w="1905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4937760" y="3191256"/>
            <a:ext cx="420624" cy="0"/>
          </a:xfrm>
          <a:prstGeom prst="line">
            <a:avLst/>
          </a:prstGeom>
          <a:ln w="1905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2670048" y="3191256"/>
            <a:ext cx="420624" cy="0"/>
          </a:xfrm>
          <a:prstGeom prst="line">
            <a:avLst/>
          </a:prstGeom>
          <a:ln w="1905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1783080" y="3502152"/>
            <a:ext cx="0" cy="566928"/>
          </a:xfrm>
          <a:prstGeom prst="line">
            <a:avLst/>
          </a:prstGeom>
          <a:ln w="1905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896112" y="4251960"/>
            <a:ext cx="8595360" cy="1097280"/>
          </a:xfrm>
          <a:prstGeom prst="round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143000" y="4517136"/>
            <a:ext cx="1280160" cy="246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43140"/>
                </a:solidFill>
                <a:latin typeface="微软雅黑" panose="020B0503020204020204" charset="-122"/>
              </a:rPr>
              <a:t>示例搜索路线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514600" y="4453128"/>
            <a:ext cx="1170432" cy="347472"/>
          </a:xfrm>
          <a:prstGeom prst="roundRect">
            <a:avLst/>
          </a:prstGeom>
          <a:solidFill>
            <a:srgbClr val="FFE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514600" y="4517136"/>
            <a:ext cx="117043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玄关柜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703320" y="4626864"/>
            <a:ext cx="283464" cy="0"/>
          </a:xfrm>
          <a:prstGeom prst="line">
            <a:avLst/>
          </a:prstGeom>
          <a:ln w="1524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4087368" y="4453128"/>
            <a:ext cx="1170432" cy="347472"/>
          </a:xfrm>
          <a:prstGeom prst="roundRect">
            <a:avLst/>
          </a:prstGeom>
          <a:solidFill>
            <a:srgbClr val="FFE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087368" y="4517136"/>
            <a:ext cx="117043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客厅茶几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276088" y="4626864"/>
            <a:ext cx="283464" cy="0"/>
          </a:xfrm>
          <a:prstGeom prst="line">
            <a:avLst/>
          </a:prstGeom>
          <a:ln w="1524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ounded Rectangle 63"/>
          <p:cNvSpPr/>
          <p:nvPr/>
        </p:nvSpPr>
        <p:spPr>
          <a:xfrm>
            <a:off x="5660136" y="4453128"/>
            <a:ext cx="1170432" cy="347472"/>
          </a:xfrm>
          <a:prstGeom prst="roundRect">
            <a:avLst/>
          </a:prstGeom>
          <a:solidFill>
            <a:srgbClr val="FFE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660136" y="4517136"/>
            <a:ext cx="117043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书桌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848856" y="4626864"/>
            <a:ext cx="283464" cy="0"/>
          </a:xfrm>
          <a:prstGeom prst="line">
            <a:avLst/>
          </a:prstGeom>
          <a:ln w="1524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ounded Rectangle 66"/>
          <p:cNvSpPr/>
          <p:nvPr/>
        </p:nvSpPr>
        <p:spPr>
          <a:xfrm>
            <a:off x="7232904" y="4453128"/>
            <a:ext cx="1170432" cy="347472"/>
          </a:xfrm>
          <a:prstGeom prst="round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232904" y="4517136"/>
            <a:ext cx="1170432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>
                <a:solidFill>
                  <a:srgbClr val="243140"/>
                </a:solidFill>
                <a:latin typeface="微软雅黑" panose="020B0503020204020204" charset="-122"/>
              </a:rPr>
              <a:t>玄关整理区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738360" y="1737360"/>
            <a:ext cx="148132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9738360" y="1737360"/>
            <a:ext cx="109728" cy="1280160"/>
          </a:xfrm>
          <a:prstGeom prst="rect">
            <a:avLst/>
          </a:prstGeom>
          <a:solidFill>
            <a:srgbClr val="E0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994392" y="1920240"/>
            <a:ext cx="1069848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43140"/>
                </a:solidFill>
                <a:latin typeface="微软雅黑" panose="020B0503020204020204" charset="-122"/>
              </a:rPr>
              <a:t>识别不确定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994392" y="2304288"/>
            <a:ext cx="1066800" cy="405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77079"/>
                </a:solidFill>
                <a:latin typeface="微软雅黑" panose="020B0503020204020204" charset="-122"/>
              </a:rPr>
              <a:t>靠近、换视角或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677079"/>
                </a:solidFill>
                <a:latin typeface="微软雅黑" panose="020B0503020204020204" charset="-122"/>
              </a:rPr>
              <a:t>切换候选区域。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9738360" y="3246120"/>
            <a:ext cx="1481328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738360" y="3246120"/>
            <a:ext cx="109728" cy="1280160"/>
          </a:xfrm>
          <a:prstGeom prst="rect">
            <a:avLst/>
          </a:prstGeom>
          <a:solidFill>
            <a:srgbClr val="E08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994392" y="3429000"/>
            <a:ext cx="1069848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243140"/>
                </a:solidFill>
                <a:latin typeface="微软雅黑" panose="020B0503020204020204" charset="-122"/>
              </a:rPr>
              <a:t>抓取失败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994392" y="3813048"/>
            <a:ext cx="1524000" cy="4051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677079"/>
                </a:solidFill>
                <a:latin typeface="微软雅黑" panose="020B0503020204020204" charset="-122"/>
              </a:rPr>
              <a:t>有限重试，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677079"/>
                </a:solidFill>
                <a:latin typeface="微软雅黑" panose="020B0503020204020204" charset="-122"/>
              </a:rPr>
              <a:t>随后记录异常并反馈。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2688" y="5806440"/>
            <a:ext cx="127000" cy="2362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endParaRPr sz="1400" b="0">
              <a:solidFill>
                <a:srgbClr val="67707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201168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283464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365760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448056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530352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arallelogram 6"/>
          <p:cNvSpPr/>
          <p:nvPr/>
        </p:nvSpPr>
        <p:spPr>
          <a:xfrm>
            <a:off x="621792" y="109728"/>
            <a:ext cx="749808" cy="210312"/>
          </a:xfrm>
          <a:prstGeom prst="parallelogram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389888" y="214884"/>
            <a:ext cx="10451592" cy="0"/>
          </a:xfrm>
          <a:prstGeom prst="line">
            <a:avLst/>
          </a:prstGeom>
          <a:ln w="1270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_ecnu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56616"/>
            <a:ext cx="431074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418338"/>
            <a:ext cx="1231106" cy="3779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 dirty="0" err="1">
                <a:solidFill>
                  <a:srgbClr val="243140"/>
                </a:solidFill>
                <a:latin typeface="微软雅黑" panose="020B0503020204020204" charset="-122"/>
              </a:rPr>
              <a:t>抓取策略</a:t>
            </a:r>
            <a:endParaRPr sz="2400" b="1" dirty="0">
              <a:solidFill>
                <a:srgbClr val="24314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4000" y="420624"/>
            <a:ext cx="23317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77079"/>
                </a:solidFill>
                <a:latin typeface="微软雅黑" panose="020B0503020204020204" charset="-122"/>
              </a:rPr>
              <a:t>03  机器人作业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" y="859536"/>
            <a:ext cx="11000232" cy="0"/>
          </a:xfrm>
          <a:prstGeom prst="line">
            <a:avLst/>
          </a:prstGeom>
          <a:ln w="889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75720" y="6492240"/>
            <a:ext cx="3200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677079"/>
                </a:solidFill>
                <a:latin typeface="微软雅黑" panose="020B0503020204020204" charset="-122"/>
              </a:rPr>
              <a:t>09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492240"/>
            <a:ext cx="2331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677079"/>
                </a:solidFill>
                <a:latin typeface="微软雅黑" panose="020B0503020204020204" charset="-122"/>
              </a:rPr>
              <a:t>EAST CHINA NORMAL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060704"/>
            <a:ext cx="102412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77079"/>
                </a:solidFill>
                <a:latin typeface="微软雅黑" panose="020B0503020204020204" charset="-122"/>
              </a:rPr>
              <a:t>传感、移动与操作设备共同支撑家庭环境中的物品准备任务。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0341" y="1600200"/>
            <a:ext cx="27432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900" b="1">
                <a:solidFill>
                  <a:srgbClr val="243140"/>
                </a:solidFill>
                <a:latin typeface="微软雅黑" panose="020B0503020204020204" charset="-122"/>
              </a:rPr>
              <a:t>典型物品与操作方式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690341" y="2084831"/>
            <a:ext cx="5074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6690341" y="2084831"/>
            <a:ext cx="1481328" cy="658368"/>
          </a:xfrm>
          <a:prstGeom prst="round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90925" y="2286000"/>
            <a:ext cx="12801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243140"/>
                </a:solidFill>
                <a:latin typeface="微软雅黑" panose="020B0503020204020204" charset="-122"/>
              </a:rPr>
              <a:t>钥匙 / 耳机盒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1981" y="2221991"/>
            <a:ext cx="1234440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43140"/>
                </a:solidFill>
                <a:latin typeface="微软雅黑" panose="020B0503020204020204" charset="-122"/>
              </a:rPr>
              <a:t>小物体夹取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62141" y="2221991"/>
            <a:ext cx="190195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77079"/>
                </a:solidFill>
                <a:latin typeface="微软雅黑" panose="020B0503020204020204" charset="-122"/>
              </a:rPr>
              <a:t>尺寸小，优先选择稳定接触面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90341" y="2944368"/>
            <a:ext cx="5074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690341" y="2944368"/>
            <a:ext cx="1481328" cy="658368"/>
          </a:xfrm>
          <a:prstGeom prst="round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90925" y="3145536"/>
            <a:ext cx="12801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</a:rPr>
              <a:t>文件夹 / 证件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81981" y="3081527"/>
            <a:ext cx="1234440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43140"/>
                </a:solidFill>
                <a:latin typeface="微软雅黑" panose="020B0503020204020204" charset="-122"/>
              </a:rPr>
              <a:t>薄片边缘抓取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62141" y="3081527"/>
            <a:ext cx="190195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77079"/>
                </a:solidFill>
                <a:latin typeface="微软雅黑" panose="020B0503020204020204" charset="-122"/>
              </a:rPr>
              <a:t>需要避免滑落与表面损伤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690341" y="3803904"/>
            <a:ext cx="5074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690341" y="3803904"/>
            <a:ext cx="1481328" cy="658368"/>
          </a:xfrm>
          <a:prstGeom prst="round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90925" y="4005072"/>
            <a:ext cx="12801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243140"/>
                </a:solidFill>
                <a:latin typeface="微软雅黑" panose="020B0503020204020204" charset="-122"/>
              </a:rPr>
              <a:t>水杯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1981" y="3941064"/>
            <a:ext cx="1234440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43140"/>
                </a:solidFill>
                <a:latin typeface="微软雅黑" panose="020B0503020204020204" charset="-122"/>
              </a:rPr>
              <a:t>圆柱侧向夹取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62141" y="3941064"/>
            <a:ext cx="190195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77079"/>
                </a:solidFill>
                <a:latin typeface="微软雅黑" panose="020B0503020204020204" charset="-122"/>
              </a:rPr>
              <a:t>控制夹持力并保持竖直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690341" y="4663440"/>
            <a:ext cx="507492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6690341" y="4663440"/>
            <a:ext cx="1481328" cy="658368"/>
          </a:xfrm>
          <a:prstGeom prst="round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790925" y="4864607"/>
            <a:ext cx="12801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微软雅黑" panose="020B0503020204020204" charset="-122"/>
              </a:rPr>
              <a:t>雨伞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81981" y="4800600"/>
            <a:ext cx="1234440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243140"/>
                </a:solidFill>
                <a:latin typeface="微软雅黑" panose="020B0503020204020204" charset="-122"/>
              </a:rPr>
              <a:t>长条物体夹取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62141" y="4800600"/>
            <a:ext cx="1901952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677079"/>
                </a:solidFill>
                <a:latin typeface="微软雅黑" panose="020B0503020204020204" charset="-122"/>
              </a:rPr>
              <a:t>识别伞柄或中部稳定位置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690341" y="5650992"/>
            <a:ext cx="50749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690341" y="5650992"/>
            <a:ext cx="109728" cy="566928"/>
          </a:xfrm>
          <a:prstGeom prst="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946373" y="5797296"/>
            <a:ext cx="114300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边界说明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61941" y="5740550"/>
            <a:ext cx="3097002" cy="375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dirty="0" err="1">
                <a:solidFill>
                  <a:srgbClr val="677079"/>
                </a:solidFill>
                <a:latin typeface="微软雅黑" panose="020B0503020204020204" charset="-122"/>
              </a:rPr>
              <a:t>电脑、外套和易碎物品需要更严格的确认条件</a:t>
            </a:r>
            <a:r>
              <a:rPr sz="1150" b="0" dirty="0">
                <a:solidFill>
                  <a:srgbClr val="677079"/>
                </a:solidFill>
                <a:latin typeface="微软雅黑" panose="020B0503020204020204" charset="-122"/>
              </a:rPr>
              <a:t>，</a:t>
            </a:r>
            <a:endParaRPr lang="en-US" sz="1150" b="0" dirty="0">
              <a:solidFill>
                <a:srgbClr val="677079"/>
              </a:solidFill>
              <a:latin typeface="微软雅黑" panose="020B0503020204020204" charset="-122"/>
            </a:endParaRPr>
          </a:p>
          <a:p>
            <a:pPr algn="l">
              <a:lnSpc>
                <a:spcPct val="110000"/>
              </a:lnSpc>
            </a:pPr>
            <a:r>
              <a:rPr sz="1150" b="0" dirty="0" err="1">
                <a:solidFill>
                  <a:srgbClr val="677079"/>
                </a:solidFill>
                <a:latin typeface="微软雅黑" panose="020B0503020204020204" charset="-122"/>
              </a:rPr>
              <a:t>必要时由用户协助</a:t>
            </a:r>
            <a:r>
              <a:rPr sz="1150" b="0" dirty="0">
                <a:solidFill>
                  <a:srgbClr val="677079"/>
                </a:solidFill>
                <a:latin typeface="微软雅黑" panose="020B0503020204020204" charset="-122"/>
              </a:rPr>
              <a:t>。</a:t>
            </a:r>
          </a:p>
        </p:txBody>
      </p:sp>
      <p:pic>
        <p:nvPicPr>
          <p:cNvPr id="59" name="图片 58"/>
          <p:cNvPicPr>
            <a:picLocks noChangeAspect="1"/>
          </p:cNvPicPr>
          <p:nvPr/>
        </p:nvPicPr>
        <p:blipFill>
          <a:blip r:embed="rId3"/>
          <a:srcRect l="2932" r="4299"/>
          <a:stretch>
            <a:fillRect/>
          </a:stretch>
        </p:blipFill>
        <p:spPr>
          <a:xfrm>
            <a:off x="283464" y="1811655"/>
            <a:ext cx="6146273" cy="431222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201168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283464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365760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448056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530352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arallelogram 6"/>
          <p:cNvSpPr/>
          <p:nvPr/>
        </p:nvSpPr>
        <p:spPr>
          <a:xfrm>
            <a:off x="621792" y="109728"/>
            <a:ext cx="749808" cy="210312"/>
          </a:xfrm>
          <a:prstGeom prst="parallelogram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389888" y="214884"/>
            <a:ext cx="10451592" cy="0"/>
          </a:xfrm>
          <a:prstGeom prst="line">
            <a:avLst/>
          </a:prstGeom>
          <a:ln w="1270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_ecnu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56616"/>
            <a:ext cx="431074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384048"/>
            <a:ext cx="81381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243140"/>
                </a:solidFill>
                <a:latin typeface="微软雅黑" panose="020B0503020204020204" charset="-122"/>
              </a:rPr>
              <a:t>安全约束与异常处理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20624"/>
            <a:ext cx="23317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77079"/>
                </a:solidFill>
                <a:latin typeface="微软雅黑" panose="020B0503020204020204" charset="-122"/>
              </a:rPr>
              <a:t>03  机器人作业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" y="859536"/>
            <a:ext cx="11000232" cy="0"/>
          </a:xfrm>
          <a:prstGeom prst="line">
            <a:avLst/>
          </a:prstGeom>
          <a:ln w="889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75720" y="6492240"/>
            <a:ext cx="3200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677079"/>
                </a:solidFill>
                <a:latin typeface="微软雅黑" panose="020B0503020204020204" charset="-122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6492240"/>
            <a:ext cx="23317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700" b="0">
                <a:solidFill>
                  <a:srgbClr val="677079"/>
                </a:solidFill>
                <a:latin typeface="微软雅黑" panose="020B0503020204020204" charset="-122"/>
              </a:rPr>
              <a:t>EAST CHINA NORMAL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1060704"/>
            <a:ext cx="102412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677079"/>
                </a:solidFill>
                <a:latin typeface="微软雅黑" panose="020B0503020204020204" charset="-122"/>
              </a:rPr>
              <a:t>家庭机器人首先要做到：不确定时不冒险，失败时不强行执行。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1828800"/>
            <a:ext cx="2423160" cy="502920"/>
          </a:xfrm>
          <a:prstGeom prst="round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1975104"/>
            <a:ext cx="24231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异常情况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1828800"/>
            <a:ext cx="2423160" cy="502920"/>
          </a:xfrm>
          <a:prstGeom prst="roundRect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0" y="1975104"/>
            <a:ext cx="242316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243140"/>
                </a:solidFill>
                <a:latin typeface="微软雅黑" panose="020B0503020204020204" charset="-122"/>
              </a:rPr>
              <a:t>判断依据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1828800"/>
            <a:ext cx="3657600" cy="502920"/>
          </a:xfrm>
          <a:prstGeom prst="round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12280" y="1975104"/>
            <a:ext cx="36576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</a:rPr>
              <a:t>处理方式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2468880"/>
            <a:ext cx="9555480" cy="512064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" y="2606040"/>
            <a:ext cx="2057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识别不确定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22191" y="2606040"/>
            <a:ext cx="2670048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0373F"/>
                </a:solidFill>
                <a:latin typeface="微软雅黑" panose="020B0503020204020204" charset="-122"/>
              </a:rPr>
              <a:t>置信度较低或信息冲突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2606040"/>
            <a:ext cx="32461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0373F"/>
                </a:solidFill>
                <a:latin typeface="微软雅黑" panose="020B0503020204020204" charset="-122"/>
              </a:rPr>
              <a:t>靠近、换视角或询问用户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3072384"/>
            <a:ext cx="95554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78992" y="3209544"/>
            <a:ext cx="2057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路径受阻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22191" y="3209544"/>
            <a:ext cx="2670048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0373F"/>
                </a:solidFill>
                <a:latin typeface="微软雅黑" panose="020B0503020204020204" charset="-122"/>
              </a:rPr>
              <a:t>持续无法通过目标区域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3209544"/>
            <a:ext cx="32461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0373F"/>
                </a:solidFill>
                <a:latin typeface="微软雅黑" panose="020B0503020204020204" charset="-122"/>
              </a:rPr>
              <a:t>等待、重新规划或请求清理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3675888"/>
            <a:ext cx="9555480" cy="512064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78992" y="3813048"/>
            <a:ext cx="2057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抓取失败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22191" y="3813048"/>
            <a:ext cx="2670048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0373F"/>
                </a:solidFill>
                <a:latin typeface="微软雅黑" panose="020B0503020204020204" charset="-122"/>
              </a:rPr>
              <a:t>夹爪闭合异常或物品滑落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95160" y="3813048"/>
            <a:ext cx="32461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0373F"/>
                </a:solidFill>
                <a:latin typeface="微软雅黑" panose="020B0503020204020204" charset="-122"/>
              </a:rPr>
              <a:t>有限重试，随后标记异常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4279392"/>
            <a:ext cx="95554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78992" y="4416552"/>
            <a:ext cx="2057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人员靠近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22191" y="4416552"/>
            <a:ext cx="2670048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0373F"/>
                </a:solidFill>
                <a:latin typeface="微软雅黑" panose="020B0503020204020204" charset="-122"/>
              </a:rPr>
              <a:t>进入机械臂工作范围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4416552"/>
            <a:ext cx="32461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0373F"/>
                </a:solidFill>
                <a:latin typeface="微软雅黑" panose="020B0503020204020204" charset="-122"/>
              </a:rPr>
              <a:t>立即暂停机械臂动作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4882896"/>
            <a:ext cx="9555480" cy="512064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78992" y="5020056"/>
            <a:ext cx="2057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243140"/>
                </a:solidFill>
                <a:latin typeface="微软雅黑" panose="020B0503020204020204" charset="-122"/>
              </a:rPr>
              <a:t>高风险物品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22191" y="5020056"/>
            <a:ext cx="2670048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0373F"/>
                </a:solidFill>
                <a:latin typeface="微软雅黑" panose="020B0503020204020204" charset="-122"/>
              </a:rPr>
              <a:t>易碎、高价值或身份不确定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5020056"/>
            <a:ext cx="32461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0373F"/>
                </a:solidFill>
                <a:latin typeface="微软雅黑" panose="020B0503020204020204" charset="-122"/>
              </a:rPr>
              <a:t>提高确认条件或由用户协助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5760720"/>
            <a:ext cx="9555480" cy="530352"/>
          </a:xfrm>
          <a:prstGeom prst="roundRect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074618" y="5925312"/>
            <a:ext cx="5289910" cy="2154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 dirty="0" err="1">
                <a:solidFill>
                  <a:srgbClr val="FFC200"/>
                </a:solidFill>
                <a:latin typeface="微软雅黑" panose="020B0503020204020204" charset="-122"/>
              </a:rPr>
              <a:t>控制优先级</a:t>
            </a:r>
            <a:r>
              <a:rPr sz="1400" b="1" dirty="0">
                <a:solidFill>
                  <a:srgbClr val="FFC200"/>
                </a:solidFill>
                <a:latin typeface="微软雅黑" panose="020B0503020204020204" charset="-122"/>
              </a:rPr>
              <a:t>：</a:t>
            </a:r>
            <a:r>
              <a:rPr sz="1400" b="1" dirty="0">
                <a:solidFill>
                  <a:srgbClr val="FFFFFF"/>
                </a:solidFill>
                <a:latin typeface="微软雅黑" panose="020B0503020204020204" charset="-122"/>
              </a:rPr>
              <a:t>  </a:t>
            </a:r>
            <a:r>
              <a:rPr sz="1400" b="1" dirty="0" err="1">
                <a:solidFill>
                  <a:srgbClr val="FFFFFF"/>
                </a:solidFill>
                <a:latin typeface="微软雅黑" panose="020B0503020204020204" charset="-122"/>
              </a:rPr>
              <a:t>人员</a:t>
            </a:r>
            <a:r>
              <a:rPr lang="zh-CN" alt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、环境</a:t>
            </a:r>
            <a:r>
              <a:rPr sz="1400" b="1" dirty="0" err="1">
                <a:solidFill>
                  <a:srgbClr val="FFFFFF"/>
                </a:solidFill>
                <a:latin typeface="微软雅黑" panose="020B0503020204020204" charset="-122"/>
              </a:rPr>
              <a:t>安全</a:t>
            </a:r>
            <a:r>
              <a:rPr sz="1400" b="1" dirty="0">
                <a:solidFill>
                  <a:srgbClr val="FFFFFF"/>
                </a:solidFill>
                <a:latin typeface="微软雅黑" panose="020B0503020204020204" charset="-122"/>
              </a:rPr>
              <a:t>  &gt;  </a:t>
            </a:r>
            <a:r>
              <a:rPr sz="1400" b="1" dirty="0" err="1">
                <a:solidFill>
                  <a:srgbClr val="FFFFFF"/>
                </a:solidFill>
                <a:latin typeface="微软雅黑" panose="020B0503020204020204" charset="-122"/>
              </a:rPr>
              <a:t>机械臂动作</a:t>
            </a:r>
            <a:r>
              <a:rPr sz="1400" b="1" dirty="0">
                <a:solidFill>
                  <a:srgbClr val="FFFFFF"/>
                </a:solidFill>
                <a:latin typeface="微软雅黑" panose="020B0503020204020204" charset="-122"/>
              </a:rPr>
              <a:t>  &gt;  </a:t>
            </a:r>
            <a:r>
              <a:rPr sz="1400" b="1" dirty="0" err="1">
                <a:solidFill>
                  <a:srgbClr val="FFFFFF"/>
                </a:solidFill>
                <a:latin typeface="微软雅黑" panose="020B0503020204020204" charset="-122"/>
              </a:rPr>
              <a:t>任务完成速度</a:t>
            </a:r>
            <a:endParaRPr sz="1400" b="1" dirty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/>
          <p:cNvSpPr/>
          <p:nvPr/>
        </p:nvSpPr>
        <p:spPr>
          <a:xfrm>
            <a:off x="201168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Parallelogram 2"/>
          <p:cNvSpPr/>
          <p:nvPr/>
        </p:nvSpPr>
        <p:spPr>
          <a:xfrm>
            <a:off x="283464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365760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Parallelogram 4"/>
          <p:cNvSpPr/>
          <p:nvPr/>
        </p:nvSpPr>
        <p:spPr>
          <a:xfrm>
            <a:off x="448056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Parallelogram 5"/>
          <p:cNvSpPr/>
          <p:nvPr/>
        </p:nvSpPr>
        <p:spPr>
          <a:xfrm>
            <a:off x="530352" y="109728"/>
            <a:ext cx="109728" cy="210312"/>
          </a:xfrm>
          <a:prstGeom prst="parallelogram">
            <a:avLst/>
          </a:prstGeom>
          <a:solidFill>
            <a:srgbClr val="FFC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Parallelogram 6"/>
          <p:cNvSpPr/>
          <p:nvPr/>
        </p:nvSpPr>
        <p:spPr>
          <a:xfrm>
            <a:off x="621792" y="109728"/>
            <a:ext cx="749808" cy="210312"/>
          </a:xfrm>
          <a:prstGeom prst="parallelogram">
            <a:avLst/>
          </a:prstGeom>
          <a:solidFill>
            <a:srgbClr val="323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" name="Connector 7"/>
          <p:cNvCxnSpPr/>
          <p:nvPr/>
        </p:nvCxnSpPr>
        <p:spPr>
          <a:xfrm>
            <a:off x="1389888" y="214884"/>
            <a:ext cx="10451592" cy="0"/>
          </a:xfrm>
          <a:prstGeom prst="line">
            <a:avLst/>
          </a:prstGeom>
          <a:ln w="12700">
            <a:solidFill>
              <a:srgbClr val="323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_ecnu_s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56616"/>
            <a:ext cx="431074" cy="4389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1248" y="384048"/>
            <a:ext cx="2754630" cy="4057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lang="zh-CN" sz="2400" b="1">
                <a:solidFill>
                  <a:srgbClr val="243140"/>
                </a:solidFill>
                <a:latin typeface="微软雅黑" panose="020B0503020204020204" charset="-122"/>
              </a:rPr>
              <a:t>预期效果展示</a:t>
            </a:r>
            <a:r>
              <a:rPr sz="2400" b="1">
                <a:solidFill>
                  <a:srgbClr val="243140"/>
                </a:solidFill>
                <a:latin typeface="微软雅黑" panose="020B0503020204020204" charset="-122"/>
              </a:rPr>
              <a:t>：</a:t>
            </a:r>
            <a:r>
              <a:rPr lang="zh-CN" sz="2400" b="1">
                <a:solidFill>
                  <a:srgbClr val="243140"/>
                </a:solidFill>
                <a:latin typeface="微软雅黑" panose="020B0503020204020204" charset="-122"/>
              </a:rPr>
              <a:t>图片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420624"/>
            <a:ext cx="233172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77079"/>
                </a:solidFill>
                <a:latin typeface="微软雅黑" panose="020B0503020204020204" charset="-122"/>
              </a:rPr>
              <a:t>04  原型与验证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" y="859536"/>
            <a:ext cx="11000232" cy="0"/>
          </a:xfrm>
          <a:prstGeom prst="line">
            <a:avLst/>
          </a:prstGeom>
          <a:ln w="8890">
            <a:solidFill>
              <a:srgbClr val="DCE0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475720" y="6492240"/>
            <a:ext cx="32004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800" b="0">
                <a:solidFill>
                  <a:srgbClr val="677079"/>
                </a:solidFill>
                <a:latin typeface="微软雅黑" panose="020B0503020204020204" charset="-122"/>
              </a:rPr>
              <a:t>12</a:t>
            </a:r>
          </a:p>
        </p:txBody>
      </p:sp>
      <p:pic>
        <p:nvPicPr>
          <p:cNvPr id="63" name="图片 62" descr="be6f0eb2dbe5ea18aa354588c75e74e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9888" y="901700"/>
            <a:ext cx="8934450" cy="5956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639</Words>
  <Application>Microsoft Office PowerPoint</Application>
  <PresentationFormat>宽屏</PresentationFormat>
  <Paragraphs>284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 Mobile OpenARM 的家庭出门物品准备助手</dc:title>
  <dc:subject>机器人导论课程汇报</dc:subject>
  <dc:creator>华东师范大学</dc:creator>
  <dc:description>generated using python-pptx</dc:description>
  <cp:lastModifiedBy>FRANK L</cp:lastModifiedBy>
  <cp:revision>8</cp:revision>
  <dcterms:created xsi:type="dcterms:W3CDTF">2013-01-27T09:14:00Z</dcterms:created>
  <dcterms:modified xsi:type="dcterms:W3CDTF">2026-06-13T16:43:32Z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7CB456432FFD40CA9B5B05E02AB960AF_12</vt:lpwstr>
  </property>
</Properties>
</file>